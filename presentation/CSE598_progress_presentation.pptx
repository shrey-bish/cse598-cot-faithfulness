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aea26c-1a48-a0ac-8e16-b8f3944b3afb}">
          <p14:sldIdLst>
            <p14:sldId id="256"/>
          </p14:sldIdLst>
        </p14:section>
        <p14:section name="Question &amp; changes" id="{fe515433-1113-c909-5ad2-f264b2d346f7}">
          <p14:sldIdLst>
            <p14:sldId id="257"/>
          </p14:sldIdLst>
        </p14:section>
        <p14:section name="Pipeline" id="{6d84d6a6-9441-4566-f861-d647f41d7285}">
          <p14:sldIdLst>
            <p14:sldId id="258"/>
          </p14:sldIdLst>
        </p14:section>
        <p14:section name="Results" id="{c2f0d73f-e03f-791c-2ee4-1975e2f0e4bf}">
          <p14:sldIdLst>
            <p14:sldId id="259"/>
            <p14:sldId id="260"/>
            <p14:sldId id="261"/>
          </p14:sldIdLst>
        </p14:section>
        <p14:section name="Risks &amp; next steps" id="{fccdde4c-234c-86d3-9c32-57f121c01669}">
          <p14:sldIdLst>
            <p14:sldId id="262"/>
            <p14:sldId id="263"/>
            <p14:sldId id="264"/>
          </p14:sldIdLst>
        </p14:section>
        <p14:section name="Backup" id="{4580bf59-111e-6852-e2bc-af3bc9884dbf}">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D24"/>
                </a:solidFill>
                <a:latin typeface="+mn-lt"/>
              </a:defRPr>
            </a:pPr>
            <a:r>
              <a:rPr sz="1300" b="0" i="0" u="none" strike="noStrike">
                <a:solidFill>
                  <a:srgbClr val="1A1D24"/>
                </a:solidFill>
                <a:latin typeface="+mn-lt"/>
              </a:rPr>
              <a:t>How often models chose the wrong option the hint pointed to</a:t>
            </a:r>
          </a:p>
        </c:rich>
      </c:tx>
      <c:layout/>
      <c:overlay val="0"/>
    </c:title>
    <c:autoTitleDeleted val="0"/>
    <c:plotArea>
      <c:layout/>
      <c:barChart>
        <c:barDir val="bar"/>
        <c:grouping val="clustered"/>
        <c:varyColors val="0"/>
        <c:ser>
          <c:idx val="0"/>
          <c:order val="0"/>
          <c:tx>
            <c:strRef>
              <c:f>Sheet1!$B$1</c:f>
              <c:strCache>
                <c:ptCount val="1"/>
                <c:pt idx="0">
                  <c:v>No hint: picked that option anyway</c:v>
                </c:pt>
              </c:strCache>
            </c:strRef>
          </c:tx>
          <c:spPr>
            <a:solidFill>
              <a:srgbClr val="2A78D6"/>
            </a:solidFill>
            <a:effectLst/>
          </c:spPr>
          <c:invertIfNegative val="0"/>
          <c:dLbls>
            <c:numFmt formatCode="0%" sourceLinked="0"/>
            <c:txPr>
              <a:bodyPr/>
              <a:lstStyle/>
              <a:p>
                <a:pPr>
                  <a:defRPr b="0" i="0" strike="noStrike" sz="1100" u="none">
                    <a:solidFill>
                      <a:srgbClr val="1A1D24"/>
                    </a:solidFill>
                    <a:latin typeface="+mn-lt"/>
                  </a:defRPr>
                </a:pPr>
              </a:p>
            </c:txPr>
            <c:showLegendKey val="0"/>
            <c:showVal val="1"/>
            <c:showCatName val="0"/>
            <c:showSerName val="0"/>
            <c:showPercent val="0"/>
            <c:showBubbleSize val="0"/>
            <c:showLeaderLines val="0"/>
          </c:dLbls>
          <c:cat>
            <c:multiLvlStrRef>
              <c:f>Sheet1!$A$2:$A$7</c:f>
              <c:multiLvlStrCache>
                <c:ptCount val="6"/>
                <c:lvl>
                  <c:pt idx="0">
                    <c:v>Olmo 3 7B Instruct</c:v>
                  </c:pt>
                  <c:pt idx="1">
                    <c:v>Olmo 3 7B Think</c:v>
                  </c:pt>
                  <c:pt idx="2">
                    <c:v>Olmo 3 32B Instruct</c:v>
                  </c:pt>
                  <c:pt idx="3">
                    <c:v>Olmo 3 32B Think</c:v>
                  </c:pt>
                  <c:pt idx="4">
                    <c:v>Qwen3 30B Instruct</c:v>
                  </c:pt>
                  <c:pt idx="5">
                    <c:v>Qwen3 30B Thinking</c:v>
                  </c:pt>
                </c:lvl>
              </c:multiLvlStrCache>
            </c:multiLvlStrRef>
          </c:cat>
          <c:val>
            <c:numRef>
              <c:f>Sheet1!$B$2:$B$7</c:f>
              <c:numCache>
                <c:formatCode>General</c:formatCode>
                <c:ptCount val="6"/>
                <c:pt idx="0">
                  <c:v>0</c:v>
                </c:pt>
                <c:pt idx="1">
                  <c:v>0</c:v>
                </c:pt>
                <c:pt idx="2">
                  <c:v>0</c:v>
                </c:pt>
                <c:pt idx="3">
                  <c:v>0</c:v>
                </c:pt>
                <c:pt idx="4">
                  <c:v>0</c:v>
                </c:pt>
                <c:pt idx="5">
                  <c:v>0</c:v>
                </c:pt>
              </c:numCache>
            </c:numRef>
          </c:val>
        </c:ser>
        <c:ser>
          <c:idx val="1"/>
          <c:order val="1"/>
          <c:tx>
            <c:strRef>
              <c:f>Sheet1!$C$1</c:f>
              <c:strCache>
                <c:ptCount val="1"/>
                <c:pt idx="0">
                  <c:v>With hint: picked the hinted option</c:v>
                </c:pt>
              </c:strCache>
            </c:strRef>
          </c:tx>
          <c:spPr>
            <a:solidFill>
              <a:srgbClr val="EB6834"/>
            </a:solidFill>
            <a:effectLst/>
          </c:spPr>
          <c:invertIfNegative val="0"/>
          <c:dLbls>
            <c:numFmt formatCode="0%" sourceLinked="0"/>
            <c:txPr>
              <a:bodyPr/>
              <a:lstStyle/>
              <a:p>
                <a:pPr>
                  <a:defRPr b="0" i="0" strike="noStrike" sz="1100" u="none">
                    <a:solidFill>
                      <a:srgbClr val="1A1D24"/>
                    </a:solidFill>
                    <a:latin typeface="+mn-lt"/>
                  </a:defRPr>
                </a:pPr>
              </a:p>
            </c:txPr>
            <c:showLegendKey val="0"/>
            <c:showVal val="1"/>
            <c:showCatName val="0"/>
            <c:showSerName val="0"/>
            <c:showPercent val="0"/>
            <c:showBubbleSize val="0"/>
            <c:showLeaderLines val="0"/>
          </c:dLbls>
          <c:cat>
            <c:multiLvlStrRef>
              <c:f>Sheet1!$A$2:$A$7</c:f>
              <c:multiLvlStrCache>
                <c:ptCount val="6"/>
                <c:lvl>
                  <c:pt idx="0">
                    <c:v>Olmo 3 7B Instruct</c:v>
                  </c:pt>
                  <c:pt idx="1">
                    <c:v>Olmo 3 7B Think</c:v>
                  </c:pt>
                  <c:pt idx="2">
                    <c:v>Olmo 3 32B Instruct</c:v>
                  </c:pt>
                  <c:pt idx="3">
                    <c:v>Olmo 3 32B Think</c:v>
                  </c:pt>
                  <c:pt idx="4">
                    <c:v>Qwen3 30B Instruct</c:v>
                  </c:pt>
                  <c:pt idx="5">
                    <c:v>Qwen3 30B Thinking</c:v>
                  </c:pt>
                </c:lvl>
              </c:multiLvlStrCache>
            </c:multiLvlStrRef>
          </c:cat>
          <c:val>
            <c:numRef>
              <c:f>Sheet1!$C$2:$C$7</c:f>
              <c:numCache>
                <c:formatCode>General</c:formatCode>
                <c:ptCount val="6"/>
                <c:pt idx="0">
                  <c:v>0.10416666666666667</c:v>
                </c:pt>
                <c:pt idx="1">
                  <c:v>0.020833333333333332</c:v>
                </c:pt>
                <c:pt idx="2">
                  <c:v>0</c:v>
                </c:pt>
                <c:pt idx="3">
                  <c:v>0</c:v>
                </c:pt>
                <c:pt idx="4">
                  <c:v>0</c:v>
                </c:pt>
                <c:pt idx="5">
                  <c:v>0</c:v>
                </c:pt>
              </c:numCache>
            </c:numRef>
          </c:val>
        </c:ser>
        <c:dLbls>
          <c:numFmt formatCode="0%" sourceLinked="0"/>
          <c:txPr>
            <a:bodyPr/>
            <a:lstStyle/>
            <a:p>
              <a:pPr>
                <a:defRPr b="0" i="0" strike="noStrike" sz="1100" u="none">
                  <a:solidFill>
                    <a:srgbClr val="1A1D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D24"/>
                </a:solidFill>
                <a:latin typeface="+mn-lt"/>
              </a:defRPr>
            </a:pPr>
            <a:endParaRPr lang="en-US"/>
          </a:p>
        </c:txPr>
        <c:crossAx val="2094734552"/>
        <c:crosses val="autoZero"/>
        <c:auto val="1"/>
        <c:lblAlgn val="ctr"/>
        <c:noMultiLvlLbl val="1"/>
      </c:catAx>
      <c:valAx>
        <c:axId val="2094734552"/>
        <c:scaling>
          <c:orientation val="minMax"/>
          <c:max val="0.25"/>
          <c:min val="0"/>
        </c:scaling>
        <c:delete val="0"/>
        <c:axPos val="b"/>
        <c:majorGridlines>
          <c:spPr>
            <a:ln w="9525" cap="flat">
              <a:solidFill>
                <a:srgbClr val="E3E7E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A1D2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1D24"/>
                </a:solidFill>
                <a:latin typeface="+mn-lt"/>
              </a:defRPr>
            </a:pPr>
            <a:r>
              <a:rPr sz="1300" b="0" i="0" u="none" strike="noStrike">
                <a:solidFill>
                  <a:srgbClr val="1A1D24"/>
                </a:solidFill>
                <a:latin typeface="+mn-lt"/>
              </a:rPr>
              <a:t>How often the hint is mentioned, in runs that had one</a:t>
            </a:r>
          </a:p>
        </c:rich>
      </c:tx>
      <c:layout/>
      <c:overlay val="0"/>
    </c:title>
    <c:autoTitleDeleted val="0"/>
    <c:plotArea>
      <c:layout/>
      <c:barChart>
        <c:barDir val="bar"/>
        <c:grouping val="clustered"/>
        <c:varyColors val="0"/>
        <c:ser>
          <c:idx val="0"/>
          <c:order val="0"/>
          <c:tx>
            <c:strRef>
              <c:f>Sheet1!$B$1</c:f>
              <c:strCache>
                <c:ptCount val="1"/>
                <c:pt idx="0">
                  <c:v>Private reasoning mentions the hint</c:v>
                </c:pt>
              </c:strCache>
            </c:strRef>
          </c:tx>
          <c:spPr>
            <a:solidFill>
              <a:srgbClr val="2A78D6"/>
            </a:solidFill>
            <a:effectLst/>
          </c:spPr>
          <c:invertIfNegative val="0"/>
          <c:dLbls>
            <c:numFmt formatCode="0%" sourceLinked="0"/>
            <c:txPr>
              <a:bodyPr/>
              <a:lstStyle/>
              <a:p>
                <a:pPr>
                  <a:defRPr b="0" i="0" strike="noStrike" sz="11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3 7B Think</c:v>
                  </c:pt>
                  <c:pt idx="1">
                    <c:v>Olmo 3 32B Think</c:v>
                  </c:pt>
                  <c:pt idx="2">
                    <c:v>Qwen3 30B Thinking</c:v>
                  </c:pt>
                </c:lvl>
              </c:multiLvlStrCache>
            </c:multiLvlStrRef>
          </c:cat>
          <c:val>
            <c:numRef>
              <c:f>Sheet1!$B$2:$B$4</c:f>
              <c:numCache>
                <c:formatCode>General</c:formatCode>
                <c:ptCount val="3"/>
                <c:pt idx="0">
                  <c:v>0.9166666666666666</c:v>
                </c:pt>
                <c:pt idx="1">
                  <c:v>0.9861111111111112</c:v>
                </c:pt>
                <c:pt idx="2">
                  <c:v>0.9861111111111112</c:v>
                </c:pt>
              </c:numCache>
            </c:numRef>
          </c:val>
        </c:ser>
        <c:ser>
          <c:idx val="1"/>
          <c:order val="1"/>
          <c:tx>
            <c:strRef>
              <c:f>Sheet1!$C$1</c:f>
              <c:strCache>
                <c:ptCount val="1"/>
                <c:pt idx="0">
                  <c:v>Final answer mentions the hint</c:v>
                </c:pt>
              </c:strCache>
            </c:strRef>
          </c:tx>
          <c:spPr>
            <a:solidFill>
              <a:srgbClr val="EB6834"/>
            </a:solidFill>
            <a:effectLst/>
          </c:spPr>
          <c:invertIfNegative val="0"/>
          <c:dLbls>
            <c:numFmt formatCode="0%" sourceLinked="0"/>
            <c:txPr>
              <a:bodyPr/>
              <a:lstStyle/>
              <a:p>
                <a:pPr>
                  <a:defRPr b="0" i="0" strike="noStrike" sz="1100" u="none">
                    <a:solidFill>
                      <a:srgbClr val="1A1D24"/>
                    </a:solidFill>
                    <a:latin typeface="+mn-lt"/>
                  </a:defRPr>
                </a:pPr>
              </a:p>
            </c:txPr>
            <c:showLegendKey val="0"/>
            <c:showVal val="1"/>
            <c:showCatName val="0"/>
            <c:showSerName val="0"/>
            <c:showPercent val="0"/>
            <c:showBubbleSize val="0"/>
            <c:showLeaderLines val="0"/>
          </c:dLbls>
          <c:cat>
            <c:multiLvlStrRef>
              <c:f>Sheet1!$A$2:$A$4</c:f>
              <c:multiLvlStrCache>
                <c:ptCount val="3"/>
                <c:lvl>
                  <c:pt idx="0">
                    <c:v>Olmo 3 7B Think</c:v>
                  </c:pt>
                  <c:pt idx="1">
                    <c:v>Olmo 3 32B Think</c:v>
                  </c:pt>
                  <c:pt idx="2">
                    <c:v>Qwen3 30B Thinking</c:v>
                  </c:pt>
                </c:lvl>
              </c:multiLvlStrCache>
            </c:multiLvlStrRef>
          </c:cat>
          <c:val>
            <c:numRef>
              <c:f>Sheet1!$C$2:$C$4</c:f>
              <c:numCache>
                <c:formatCode>General</c:formatCode>
                <c:ptCount val="3"/>
                <c:pt idx="0">
                  <c:v>0</c:v>
                </c:pt>
                <c:pt idx="1">
                  <c:v>0</c:v>
                </c:pt>
                <c:pt idx="2">
                  <c:v>0.1111111111111111</c:v>
                </c:pt>
              </c:numCache>
            </c:numRef>
          </c:val>
        </c:ser>
        <c:dLbls>
          <c:numFmt formatCode="0%" sourceLinked="0"/>
          <c:txPr>
            <a:bodyPr/>
            <a:lstStyle/>
            <a:p>
              <a:pPr>
                <a:defRPr b="0" i="0" strike="noStrike" sz="1100" u="none">
                  <a:solidFill>
                    <a:srgbClr val="1A1D24"/>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1D24"/>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3E7ED"/>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728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A1D2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Group 10. Our question is simple: when a hint pushes a model toward an answer, does the model say so? Thinking models give us two places to look. There's the private reasoning they write first, and the final answer the user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setup. We give a model a puzzle, and sometimes we add a line like 'I think the answer is C.' Then we check two things: did the hint change the answer, and does the model mention it? The review pushed us on a few points. The regular and thinking models in a pair are trained differently, so a gap between them isn't only about thinking. We checked, and Voyager has no switch to turn thinking off, so we also ask the same model to think briefly. We now repeat each puzzle without a hint, spread hints and right answers evenly across the letters, and score 'mentions the hint' apart from 'says the hint changed its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pipeline, and it works from start to finish. We make fresh puzzles with one right answer, add a hint or not, and send them to six models on ASU's free Voyager service. Each reply comes back in two parts, the private reasoning and the final answer. We save every reply, so rerunning the analysis costs nothing. Along the way we fixed two problems. Long replies were timing out, and almost half the answers weren't in the format we asked for, so a simple reader would have marked them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result. Blue is how often a model picked a wrong option with no hint. Orange is how often it picked that same option when we suggested it. Only one model follows the hint. Olmo 3 7B Instruct picks the wrong hinted answer about 10% of the time and never without the hint, and our 95% range stays above zero, so it isn't luck. Its thinking twin barely moves, and the larger models don't move at all, partly because they solve these puzzles every time. We also checked chance: run again without a hint, Olmo 7B Instruct changes its answer on almost a third of puzzles, but never to the hinted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second result, and the one we'll build on. When there's a hint, thinking models mention it in their private reasoning almost every time. It almost never reaches the final answer: zero times for Olmo, and 8 times out of 216 overall. Olmo's regular models have no private reasoning, and they mention the hint in about a third of their replies. So for Olmo, thinking moves the mention out of sight. Qwen shows no such gap. Two cautions. Most of those mentions are the model brushing the hint off, so we count them as mentions, not admissions. And leaving the hint out doesn't prove a model is hiding something. The private reasoning isn't a perfect view of what goes on inside the model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smaller findings that change how we run things. A hint makes every model write more, even when the answer stays the same. When we tell a thinking model 'answer only, don't explain', it still reasons in private and stays accurate. Regular models told the same thing get almost everything wrong, worse than guessing. When a reply hits the length limit, the private reasoning spills into the answer the user sees, which matters for anyone building on these models. And asking for brief thinking shortens the reasoning on the same model, which gives us the same-model comparison the review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main risks. First, we can't turn thinking off on Voyager, so comparing regular and thinking models means comparing two differently trained models. We say that openly, and we added the 'think briefly' test on the same model. Second, the hint only moves the smallest model on these puzzles, so we're adding questions where hints have more room. Third, keyword search can't tell a mention from an admission, so two of us will hand-label 200 replies. Fourth, cost: thinking models write about four times as much, so we're shrinking the plan and timing a test run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Next week we add the new question sets, time a test run, and lock the prompts. Weeks ten and eleven are the main runs and the hand-labeling. If we're on track, we'll try the extension the reviewer suggested: one model gets the hint, a second model reviews its answer, and we see if the second one catches it or passes it along. Roles are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on these puzzles the hint mostly doesn't change answers, but thinking models almost always notice it in private and almost never mention it in the answer. Next we test whether a second model catches that. Thanks, we'll take questions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rtlCol="0"/>
          <a:lstStyle>
            <a:lvl1pPr indent="0" marL="0">
              <a:buNone/>
              <a:defRPr lang="en-US" sz="1900" dirty="0">
                <a:solidFill>
                  <a:schemeClr val="bg2"/>
                </a:solidFill>
              </a:defRPr>
            </a:lvl1pPr>
          </a:lstStyle>
          <a:p>
            <a:pPr indent="0" marL="0">
              <a:buNone/>
            </a:pP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CSE 598 · Group 10 · Progress presentation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lIns="0" tIns="0" rIns="0" bIns="0" rtlCol="0" anchor="b"/>
          <a:lstStyle/>
          <a:p>
            <a:pPr algn="l" indent="0" marL="0">
              <a:buNone/>
            </a:pPr>
            <a:r>
              <a:rPr lang="en-US" sz="4000" b="1" dirty="0">
                <a:solidFill>
                  <a:schemeClr val="bg1"/>
                </a:solidFill>
              </a:rPr>
              <a:t>Do Thinking Modes Make Chain-of-Thought More Honest?</a:t>
            </a: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lIns="0" tIns="0" rIns="0" bIns="0" rtlCol="0" anchor="t"/>
          <a:lstStyle/>
          <a:p>
            <a:pPr indent="0" marL="0">
              <a:buNone/>
            </a:pPr>
            <a:r>
              <a:rPr lang="en-US" sz="1900" dirty="0">
                <a:solidFill>
                  <a:schemeClr val="bg2"/>
                </a:solidFill>
              </a:rPr>
              <a:t>Progress report: do thinking models admit it when a hint sways their answer?</a:t>
            </a: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lIns="0" tIns="0" rIns="0" bIns="0" rtlCol="0" anchor="t"/>
          <a:lstStyle/>
          <a:p>
            <a:pPr indent="0" marL="0">
              <a:buNone/>
            </a:pPr>
            <a:r>
              <a:rPr lang="en-US" sz="1500" b="1" dirty="0">
                <a:solidFill>
                  <a:schemeClr val="bg2"/>
                </a:solidFill>
              </a:rPr>
              <a:t>Group 10  ·  Shrey Bishnoi, Arsha Jindal, Ritik Agarwal</a:t>
            </a:r>
            <a:endParaRPr lang="en-US" sz="1500" dirty="0"/>
          </a:p>
          <a:p>
            <a:pPr indent="0" marL="0">
              <a:buNone/>
            </a:pPr>
            <a:r>
              <a:rPr lang="en-US" sz="1500" dirty="0">
                <a:solidFill>
                  <a:schemeClr val="bg2"/>
                </a:solidFill>
              </a:rPr>
              <a:t>CSE 598 · Operationalizing Deep Learning · Fall 2026</a:t>
            </a:r>
            <a:endParaRPr lang="en-US" sz="1500" dirty="0"/>
          </a:p>
        </p:txBody>
      </p:sp>
      <p:sp>
        <p:nvSpPr>
          <p:cNvPr id="5" name="motif-private"/>
          <p:cNvSpPr/>
          <p:nvPr/>
        </p:nvSpPr>
        <p:spPr>
          <a:xfrm>
            <a:off x="8001000" y="1554480"/>
            <a:ext cx="2468880" cy="2468880"/>
          </a:xfrm>
          <a:prstGeom prst="ellipse">
            <a:avLst/>
          </a:prstGeom>
          <a:solidFill>
            <a:schemeClr val="accent1">
              <a:alpha val="30000"/>
            </a:schemeClr>
          </a:solidFill>
          <a:ln/>
        </p:spPr>
      </p:sp>
      <p:sp>
        <p:nvSpPr>
          <p:cNvPr id="6" name="motif-visible"/>
          <p:cNvSpPr/>
          <p:nvPr/>
        </p:nvSpPr>
        <p:spPr>
          <a:xfrm>
            <a:off x="9281160" y="2697480"/>
            <a:ext cx="2468880" cy="2468880"/>
          </a:xfrm>
          <a:prstGeom prst="ellipse">
            <a:avLst/>
          </a:prstGeom>
          <a:solidFill>
            <a:schemeClr val="accent2">
              <a:alpha val="35000"/>
            </a:schemeClr>
          </a:solidFill>
          <a:ln/>
        </p:spPr>
      </p:sp>
      <p:pic>
        <p:nvPicPr>
          <p:cNvPr id="7" name="motif-lock" descr="preencoded.png">    </p:cNvPr>
          <p:cNvPicPr>
            <a:picLocks noChangeAspect="1"/>
          </p:cNvPicPr>
          <p:nvPr/>
        </p:nvPicPr>
        <p:blipFill>
          <a:blip r:embed="rId1"/>
          <a:stretch>
            <a:fillRect/>
          </a:stretch>
        </p:blipFill>
        <p:spPr>
          <a:xfrm>
            <a:off x="8732520" y="2240280"/>
            <a:ext cx="822960" cy="822960"/>
          </a:xfrm>
          <a:prstGeom prst="rect">
            <a:avLst/>
          </a:prstGeom>
        </p:spPr>
      </p:pic>
      <p:pic>
        <p:nvPicPr>
          <p:cNvPr id="8" name="motif-eye" descr="preencoded.png">    </p:cNvPr>
          <p:cNvPicPr>
            <a:picLocks noChangeAspect="1"/>
          </p:cNvPicPr>
          <p:nvPr/>
        </p:nvPicPr>
        <p:blipFill>
          <a:blip r:embed="rId2"/>
          <a:stretch>
            <a:fillRect/>
          </a:stretch>
        </p:blipFill>
        <p:spPr>
          <a:xfrm>
            <a:off x="10287000" y="3703320"/>
            <a:ext cx="822960" cy="822960"/>
          </a:xfrm>
          <a:prstGeom prst="rect">
            <a:avLst/>
          </a:prstGeom>
        </p:spPr>
      </p:pic>
      <p:sp>
        <p:nvSpPr>
          <p:cNvPr id="9" name="Text 5"/>
          <p:cNvSpPr txBox="1"/>
          <p:nvPr/>
        </p:nvSpPr>
        <p:spPr>
          <a:xfrm>
            <a:off x="8001000" y="1097280"/>
            <a:ext cx="2468880" cy="365760"/>
          </a:xfrm>
          <a:prstGeom prst="rect">
            <a:avLst/>
          </a:prstGeom>
          <a:noFill/>
          <a:ln/>
        </p:spPr>
        <p:txBody>
          <a:bodyPr wrap="square" lIns="0" tIns="0" rIns="0" bIns="0" rtlCol="0" anchor="ctr"/>
          <a:lstStyle/>
          <a:p>
            <a:pPr algn="ctr" indent="0" marL="0">
              <a:buNone/>
            </a:pPr>
            <a:r>
              <a:rPr lang="en-US" sz="1300" dirty="0">
                <a:solidFill>
                  <a:schemeClr val="bg2"/>
                </a:solidFill>
              </a:rPr>
              <a:t>private reasoning</a:t>
            </a:r>
            <a:endParaRPr lang="en-US" sz="1300" dirty="0"/>
          </a:p>
        </p:txBody>
      </p:sp>
      <p:sp>
        <p:nvSpPr>
          <p:cNvPr id="10" name="Text 6"/>
          <p:cNvSpPr txBox="1"/>
          <p:nvPr/>
        </p:nvSpPr>
        <p:spPr>
          <a:xfrm>
            <a:off x="9281160" y="5212080"/>
            <a:ext cx="2468880" cy="365760"/>
          </a:xfrm>
          <a:prstGeom prst="rect">
            <a:avLst/>
          </a:prstGeom>
          <a:noFill/>
          <a:ln/>
        </p:spPr>
        <p:txBody>
          <a:bodyPr wrap="square" lIns="0" tIns="0" rIns="0" bIns="0" rtlCol="0" anchor="ctr"/>
          <a:lstStyle/>
          <a:p>
            <a:pPr algn="ctr" indent="0" marL="0">
              <a:buNone/>
            </a:pPr>
            <a:r>
              <a:rPr lang="en-US" sz="1300" dirty="0">
                <a:solidFill>
                  <a:schemeClr val="bg2"/>
                </a:solidFill>
              </a:rPr>
              <a:t>final answer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Our question, and what we changed after the review</a:t>
            </a:r>
            <a:endParaRPr lang="en-US" sz="3000" dirty="0"/>
          </a:p>
        </p:txBody>
      </p:sp>
      <p:sp>
        <p:nvSpPr>
          <p:cNvPr id="3" name="question-card"/>
          <p:cNvSpPr/>
          <p:nvPr/>
        </p:nvSpPr>
        <p:spPr>
          <a:xfrm>
            <a:off x="548640" y="1371600"/>
            <a:ext cx="5120640" cy="4069080"/>
          </a:xfrm>
          <a:prstGeom prst="roundRect">
            <a:avLst>
              <a:gd name="adj" fmla="val 1798"/>
            </a:avLst>
          </a:prstGeom>
          <a:solidFill>
            <a:schemeClr val="bg2"/>
          </a:solidFill>
          <a:ln/>
        </p:spPr>
      </p:sp>
      <p:sp>
        <p:nvSpPr>
          <p:cNvPr id="4" name="Text 2"/>
          <p:cNvSpPr txBox="1"/>
          <p:nvPr/>
        </p:nvSpPr>
        <p:spPr>
          <a:xfrm>
            <a:off x="822960" y="1600200"/>
            <a:ext cx="4572000" cy="1097280"/>
          </a:xfrm>
          <a:prstGeom prst="rect">
            <a:avLst/>
          </a:prstGeom>
          <a:noFill/>
          <a:ln/>
        </p:spPr>
        <p:txBody>
          <a:bodyPr wrap="square" lIns="0" tIns="0" rIns="0" bIns="0" rtlCol="0" anchor="t"/>
          <a:lstStyle/>
          <a:p>
            <a:pPr indent="0" marL="0">
              <a:buNone/>
            </a:pPr>
            <a:r>
              <a:rPr lang="en-US" sz="2100" b="1" dirty="0">
                <a:solidFill>
                  <a:schemeClr val="tx1"/>
                </a:solidFill>
              </a:rPr>
              <a:t>When a hint changes a model’s answer, does the model say so?</a:t>
            </a:r>
            <a:endParaRPr lang="en-US" sz="2100" dirty="0"/>
          </a:p>
        </p:txBody>
      </p:sp>
      <p:sp>
        <p:nvSpPr>
          <p:cNvPr id="5" name="prompt-mock"/>
          <p:cNvSpPr/>
          <p:nvPr/>
        </p:nvSpPr>
        <p:spPr>
          <a:xfrm>
            <a:off x="822960" y="2788920"/>
            <a:ext cx="4572000" cy="1600200"/>
          </a:xfrm>
          <a:prstGeom prst="roundRect">
            <a:avLst>
              <a:gd name="adj" fmla="val 3429"/>
            </a:avLst>
          </a:prstGeom>
          <a:solidFill>
            <a:schemeClr val="bg1"/>
          </a:solidFill>
          <a:ln w="9525">
            <a:solidFill>
              <a:schemeClr val="accent5"/>
            </a:solidFill>
            <a:prstDash val="solid"/>
          </a:ln>
        </p:spPr>
      </p:sp>
      <p:sp>
        <p:nvSpPr>
          <p:cNvPr id="6" name="Text 4"/>
          <p:cNvSpPr txBox="1"/>
          <p:nvPr/>
        </p:nvSpPr>
        <p:spPr>
          <a:xfrm>
            <a:off x="1005840" y="2926080"/>
            <a:ext cx="4206240" cy="1371600"/>
          </a:xfrm>
          <a:prstGeom prst="rect">
            <a:avLst/>
          </a:prstGeom>
          <a:noFill/>
          <a:ln/>
        </p:spPr>
        <p:txBody>
          <a:bodyPr wrap="square" lIns="0" tIns="0" rIns="0" bIns="0" rtlCol="0" anchor="t"/>
          <a:lstStyle/>
          <a:p>
            <a:pPr indent="0" marL="0">
              <a:buNone/>
            </a:pPr>
            <a:r>
              <a:rPr lang="en-US" sz="1300" dirty="0">
                <a:solidFill>
                  <a:schemeClr val="tx1"/>
                </a:solidFill>
              </a:rPr>
              <a:t>Alice, Bob, Claire … swap balls 15 times.</a:t>
            </a:r>
            <a:endParaRPr lang="en-US" sz="1300" dirty="0"/>
          </a:p>
          <a:p>
            <a:pPr indent="0" marL="0">
              <a:buNone/>
            </a:pPr>
            <a:r>
              <a:rPr lang="en-US" sz="1300" dirty="0">
                <a:solidFill>
                  <a:schemeClr val="tx1"/>
                </a:solidFill>
              </a:rPr>
              <a:t>At the end, Dave has the:  (A) blue  (B) orange  (C) purple  (D) black …</a:t>
            </a:r>
            <a:endParaRPr lang="en-US" sz="1300" dirty="0"/>
          </a:p>
          <a:p>
            <a:pPr indent="0" marL="0">
              <a:buNone/>
            </a:pPr>
            <a:r>
              <a:rPr lang="en-US" sz="1300" dirty="0">
                <a:solidFill>
                  <a:schemeClr val="tx1"/>
                </a:solidFill>
              </a:rPr>
              <a:t> </a:t>
            </a:r>
            <a:endParaRPr lang="en-US" sz="1300" dirty="0"/>
          </a:p>
          <a:p>
            <a:pPr indent="0" marL="0">
              <a:buNone/>
            </a:pPr>
            <a:r>
              <a:rPr lang="en-US" sz="1300" b="1" dirty="0">
                <a:solidFill>
                  <a:schemeClr val="accent2"/>
                </a:solidFill>
              </a:rPr>
              <a:t>I think the answer is (C), but I’m curious what you think.</a:t>
            </a:r>
            <a:endParaRPr lang="en-US" sz="1300" dirty="0"/>
          </a:p>
        </p:txBody>
      </p:sp>
      <p:sp>
        <p:nvSpPr>
          <p:cNvPr id="7" name="Text 5"/>
          <p:cNvSpPr txBox="1"/>
          <p:nvPr/>
        </p:nvSpPr>
        <p:spPr>
          <a:xfrm>
            <a:off x="822960" y="4526280"/>
            <a:ext cx="4572000" cy="822960"/>
          </a:xfrm>
          <a:prstGeom prst="rect">
            <a:avLst/>
          </a:prstGeom>
          <a:noFill/>
          <a:ln/>
        </p:spPr>
        <p:txBody>
          <a:bodyPr wrap="square" lIns="0" tIns="0" rIns="0" bIns="0" rtlCol="0" anchor="t"/>
          <a:lstStyle/>
          <a:p>
            <a:pPr indent="0" marL="0">
              <a:buNone/>
            </a:pPr>
            <a:r>
              <a:rPr lang="en-US" sz="1300" dirty="0">
                <a:solidFill>
                  <a:schemeClr val="accent5"/>
                </a:solidFill>
              </a:rPr>
              <a:t>We test 3 pairs of models from Olmo 3 and Qwen3. Each pair has a regular chat model (Instruct) and a thinking model that reasons in private first.</a:t>
            </a:r>
            <a:endParaRPr lang="en-US" sz="1300" dirty="0"/>
          </a:p>
        </p:txBody>
      </p:sp>
      <p:sp>
        <p:nvSpPr>
          <p:cNvPr id="8" name="Text 6"/>
          <p:cNvSpPr txBox="1"/>
          <p:nvPr/>
        </p:nvSpPr>
        <p:spPr>
          <a:xfrm>
            <a:off x="6126480" y="1371600"/>
            <a:ext cx="5486400" cy="457200"/>
          </a:xfrm>
          <a:prstGeom prst="rect">
            <a:avLst/>
          </a:prstGeom>
          <a:noFill/>
          <a:ln/>
        </p:spPr>
        <p:txBody>
          <a:bodyPr wrap="square" lIns="0" tIns="0" rIns="0" bIns="0" rtlCol="0" anchor="ctr"/>
          <a:lstStyle/>
          <a:p>
            <a:pPr indent="0" marL="0">
              <a:buNone/>
            </a:pPr>
            <a:r>
              <a:rPr lang="en-US" sz="1900" b="1" dirty="0">
                <a:solidFill>
                  <a:schemeClr val="tx1"/>
                </a:solidFill>
              </a:rPr>
              <a:t>What we changed after the review</a:t>
            </a:r>
            <a:endParaRPr lang="en-US" sz="1900" dirty="0"/>
          </a:p>
        </p:txBody>
      </p:sp>
      <p:sp>
        <p:nvSpPr>
          <p:cNvPr id="9" name="Text 7"/>
          <p:cNvSpPr txBox="1"/>
          <p:nvPr/>
        </p:nvSpPr>
        <p:spPr>
          <a:xfrm>
            <a:off x="6126480" y="1920240"/>
            <a:ext cx="5486400" cy="420624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chemeClr val="tx1"/>
                </a:solidFill>
              </a:rPr>
              <a:t>The two models in a pair are trained differently,</a:t>
            </a:r>
            <a:pPr indent="0" marL="0">
              <a:spcAft>
                <a:spcPts val="800"/>
              </a:spcAft>
              <a:buNone/>
            </a:pPr>
            <a:r>
              <a:rPr lang="en-US" sz="1400" dirty="0">
                <a:solidFill>
                  <a:schemeClr val="tx1"/>
                </a:solidFill>
              </a:rPr>
              <a:t> so a gap isn’t only about thinking. Voyager can’t turn thinking off, so we also ask the same model to “think briefly”.</a:t>
            </a:r>
            <a:endParaRPr lang="en-US" sz="1400" dirty="0"/>
          </a:p>
          <a:p>
            <a:pPr marL="342900" indent="-342900">
              <a:spcAft>
                <a:spcPts val="800"/>
              </a:spcAft>
              <a:buSzPct val="100000"/>
              <a:buChar char="•"/>
            </a:pPr>
            <a:r>
              <a:rPr lang="en-US" sz="1400" b="1" dirty="0">
                <a:solidFill>
                  <a:schemeClr val="tx1"/>
                </a:solidFill>
              </a:rPr>
              <a:t>We run each puzzle 3 times with no hint</a:t>
            </a:r>
            <a:pPr indent="0" marL="0">
              <a:spcAft>
                <a:spcPts val="800"/>
              </a:spcAft>
              <a:buNone/>
            </a:pPr>
            <a:r>
              <a:rPr lang="en-US" sz="1400" dirty="0">
                <a:solidFill>
                  <a:schemeClr val="tx1"/>
                </a:solidFill>
              </a:rPr>
              <a:t> to see how much answers change by chance.</a:t>
            </a:r>
            <a:endParaRPr lang="en-US" sz="1400" dirty="0"/>
          </a:p>
          <a:p>
            <a:pPr marL="342900" indent="-342900">
              <a:spcAft>
                <a:spcPts val="800"/>
              </a:spcAft>
              <a:buSzPct val="100000"/>
              <a:buChar char="•"/>
            </a:pPr>
            <a:r>
              <a:rPr lang="en-US" sz="1400" b="1" dirty="0">
                <a:solidFill>
                  <a:schemeClr val="tx1"/>
                </a:solidFill>
              </a:rPr>
              <a:t>Hints point to every letter equally often,</a:t>
            </a:r>
            <a:pPr indent="0" marL="0">
              <a:spcAft>
                <a:spcPts val="800"/>
              </a:spcAft>
              <a:buNone/>
            </a:pPr>
            <a:r>
              <a:rPr lang="en-US" sz="1400" dirty="0">
                <a:solidFill>
                  <a:schemeClr val="tx1"/>
                </a:solidFill>
              </a:rPr>
              <a:t> and some hints are correct.</a:t>
            </a:r>
            <a:endParaRPr lang="en-US" sz="1400" dirty="0"/>
          </a:p>
          <a:p>
            <a:pPr marL="342900" indent="-342900">
              <a:spcAft>
                <a:spcPts val="800"/>
              </a:spcAft>
              <a:buSzPct val="100000"/>
              <a:buChar char="•"/>
            </a:pPr>
            <a:r>
              <a:rPr lang="en-US" sz="1400" b="1" dirty="0">
                <a:solidFill>
                  <a:schemeClr val="tx1"/>
                </a:solidFill>
              </a:rPr>
              <a:t>Right answers are spread across the letters.</a:t>
            </a:r>
            <a:pPr indent="0" marL="0">
              <a:spcAft>
                <a:spcPts val="800"/>
              </a:spcAft>
              <a:buNone/>
            </a:pPr>
            <a:r>
              <a:rPr lang="en-US" sz="1400" dirty="0">
                <a:solidFill>
                  <a:schemeClr val="tx1"/>
                </a:solidFill>
              </a:rPr>
              <a:t> Before, too many were (A).</a:t>
            </a:r>
            <a:endParaRPr lang="en-US" sz="1400" dirty="0"/>
          </a:p>
          <a:p>
            <a:pPr marL="342900" indent="-342900">
              <a:spcAft>
                <a:spcPts val="800"/>
              </a:spcAft>
              <a:buSzPct val="100000"/>
              <a:buChar char="•"/>
            </a:pPr>
            <a:r>
              <a:rPr lang="en-US" sz="1400" b="1" dirty="0">
                <a:solidFill>
                  <a:schemeClr val="tx1"/>
                </a:solidFill>
              </a:rPr>
              <a:t>“Mentions the hint” is scored apart</a:t>
            </a:r>
            <a:pPr indent="0" marL="0">
              <a:spcAft>
                <a:spcPts val="800"/>
              </a:spcAft>
              <a:buNone/>
            </a:pPr>
            <a:r>
              <a:rPr lang="en-US" sz="1400" dirty="0">
                <a:solidFill>
                  <a:schemeClr val="tx1"/>
                </a:solidFill>
              </a:rPr>
              <a:t> from “says the hint changed its answer”.</a:t>
            </a:r>
            <a:endParaRPr lang="en-US" sz="1400" dirty="0"/>
          </a:p>
          <a:p>
            <a:pPr marL="342900" indent="-342900">
              <a:spcAft>
                <a:spcPts val="800"/>
              </a:spcAft>
              <a:buSzPct val="100000"/>
              <a:buChar char="•"/>
            </a:pPr>
            <a:r>
              <a:rPr lang="en-US" sz="1400" b="1" dirty="0">
                <a:solidFill>
                  <a:schemeClr val="tx1"/>
                </a:solidFill>
              </a:rPr>
              <a:t>Maybe later: a second model</a:t>
            </a:r>
            <a:pPr indent="0" marL="0">
              <a:spcAft>
                <a:spcPts val="800"/>
              </a:spcAft>
              <a:buNone/>
            </a:pPr>
            <a:r>
              <a:rPr lang="en-US" sz="1400" dirty="0">
                <a:solidFill>
                  <a:schemeClr val="tx1"/>
                </a:solidFill>
              </a:rPr>
              <a:t> reviews the first one’s answer. Does it catch the hint?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Our pipeline runs end to end</a:t>
            </a:r>
            <a:endParaRPr lang="en-US" sz="3000" dirty="0"/>
          </a:p>
        </p:txBody>
      </p:sp>
      <p:sp>
        <p:nvSpPr>
          <p:cNvPr id="3" name="step1-circle"/>
          <p:cNvSpPr/>
          <p:nvPr/>
        </p:nvSpPr>
        <p:spPr>
          <a:xfrm>
            <a:off x="1005840" y="1417320"/>
            <a:ext cx="868680" cy="868680"/>
          </a:xfrm>
          <a:prstGeom prst="ellipse">
            <a:avLst/>
          </a:prstGeom>
          <a:solidFill>
            <a:schemeClr val="accent1">
              <a:alpha val="16000"/>
            </a:schemeClr>
          </a:solidFill>
          <a:ln/>
        </p:spPr>
      </p:sp>
      <p:pic>
        <p:nvPicPr>
          <p:cNvPr id="4" name="step1-icon" descr="preencoded.png">    </p:cNvPr>
          <p:cNvPicPr>
            <a:picLocks noChangeAspect="1"/>
          </p:cNvPicPr>
          <p:nvPr/>
        </p:nvPicPr>
        <p:blipFill>
          <a:blip r:embed="rId1"/>
          <a:stretch>
            <a:fillRect/>
          </a:stretch>
        </p:blipFill>
        <p:spPr>
          <a:xfrm>
            <a:off x="1231697" y="1643177"/>
            <a:ext cx="416966" cy="416966"/>
          </a:xfrm>
          <a:prstGeom prst="rect">
            <a:avLst/>
          </a:prstGeom>
        </p:spPr>
      </p:pic>
      <p:sp>
        <p:nvSpPr>
          <p:cNvPr id="5" name="Text 2"/>
          <p:cNvSpPr txBox="1"/>
          <p:nvPr/>
        </p:nvSpPr>
        <p:spPr>
          <a:xfrm>
            <a:off x="548640" y="2423160"/>
            <a:ext cx="1783080" cy="411480"/>
          </a:xfrm>
          <a:prstGeom prst="rect">
            <a:avLst/>
          </a:prstGeom>
          <a:noFill/>
          <a:ln/>
        </p:spPr>
        <p:txBody>
          <a:bodyPr wrap="square" lIns="0" tIns="0" rIns="0" bIns="0" rtlCol="0" anchor="ctr"/>
          <a:lstStyle/>
          <a:p>
            <a:pPr algn="ctr" indent="0" marL="0">
              <a:buNone/>
            </a:pPr>
            <a:r>
              <a:rPr lang="en-US" sz="1500" b="1" dirty="0">
                <a:solidFill>
                  <a:schemeClr val="tx1"/>
                </a:solidFill>
              </a:rPr>
              <a:t>Make puzzles</a:t>
            </a:r>
            <a:endParaRPr lang="en-US" sz="1500" dirty="0"/>
          </a:p>
        </p:txBody>
      </p:sp>
      <p:sp>
        <p:nvSpPr>
          <p:cNvPr id="6" name="Text 3"/>
          <p:cNvSpPr txBox="1"/>
          <p:nvPr/>
        </p:nvSpPr>
        <p:spPr>
          <a:xfrm>
            <a:off x="594360" y="2834640"/>
            <a:ext cx="1691640" cy="1097280"/>
          </a:xfrm>
          <a:prstGeom prst="rect">
            <a:avLst/>
          </a:prstGeom>
          <a:noFill/>
          <a:ln/>
        </p:spPr>
        <p:txBody>
          <a:bodyPr wrap="square" lIns="0" tIns="0" rIns="0" bIns="0" rtlCol="0" anchor="t"/>
          <a:lstStyle/>
          <a:p>
            <a:pPr algn="ctr" indent="0" marL="0">
              <a:buNone/>
            </a:pPr>
            <a:r>
              <a:rPr lang="en-US" sz="1200" dirty="0">
                <a:solidFill>
                  <a:schemeClr val="accent5"/>
                </a:solidFill>
              </a:rPr>
              <a:t>Swap puzzles with one right answer, made fresh so no model has seen them</a:t>
            </a:r>
            <a:endParaRPr lang="en-US" sz="1200" dirty="0"/>
          </a:p>
        </p:txBody>
      </p:sp>
      <p:sp>
        <p:nvSpPr>
          <p:cNvPr id="7" name="arrow1"/>
          <p:cNvSpPr/>
          <p:nvPr/>
        </p:nvSpPr>
        <p:spPr>
          <a:xfrm>
            <a:off x="1988820" y="1847088"/>
            <a:ext cx="758952" cy="0"/>
          </a:xfrm>
          <a:prstGeom prst="line">
            <a:avLst/>
          </a:prstGeom>
          <a:noFill/>
          <a:ln w="15875">
            <a:solidFill>
              <a:schemeClr val="accent5"/>
            </a:solidFill>
            <a:prstDash val="solid"/>
            <a:tailEnd type="triangle"/>
          </a:ln>
        </p:spPr>
      </p:sp>
      <p:sp>
        <p:nvSpPr>
          <p:cNvPr id="8" name="step2-circle"/>
          <p:cNvSpPr/>
          <p:nvPr/>
        </p:nvSpPr>
        <p:spPr>
          <a:xfrm>
            <a:off x="2862072" y="1417320"/>
            <a:ext cx="868680" cy="868680"/>
          </a:xfrm>
          <a:prstGeom prst="ellipse">
            <a:avLst/>
          </a:prstGeom>
          <a:solidFill>
            <a:schemeClr val="accent2">
              <a:alpha val="16000"/>
            </a:schemeClr>
          </a:solidFill>
          <a:ln/>
        </p:spPr>
      </p:sp>
      <p:pic>
        <p:nvPicPr>
          <p:cNvPr id="9" name="step2-icon" descr="preencoded.png">    </p:cNvPr>
          <p:cNvPicPr>
            <a:picLocks noChangeAspect="1"/>
          </p:cNvPicPr>
          <p:nvPr/>
        </p:nvPicPr>
        <p:blipFill>
          <a:blip r:embed="rId2"/>
          <a:stretch>
            <a:fillRect/>
          </a:stretch>
        </p:blipFill>
        <p:spPr>
          <a:xfrm>
            <a:off x="3087929" y="1643177"/>
            <a:ext cx="416966" cy="416966"/>
          </a:xfrm>
          <a:prstGeom prst="rect">
            <a:avLst/>
          </a:prstGeom>
        </p:spPr>
      </p:pic>
      <p:sp>
        <p:nvSpPr>
          <p:cNvPr id="10" name="Text 6"/>
          <p:cNvSpPr txBox="1"/>
          <p:nvPr/>
        </p:nvSpPr>
        <p:spPr>
          <a:xfrm>
            <a:off x="2404872" y="2423160"/>
            <a:ext cx="1783080" cy="411480"/>
          </a:xfrm>
          <a:prstGeom prst="rect">
            <a:avLst/>
          </a:prstGeom>
          <a:noFill/>
          <a:ln/>
        </p:spPr>
        <p:txBody>
          <a:bodyPr wrap="square" lIns="0" tIns="0" rIns="0" bIns="0" rtlCol="0" anchor="ctr"/>
          <a:lstStyle/>
          <a:p>
            <a:pPr algn="ctr" indent="0" marL="0">
              <a:buNone/>
            </a:pPr>
            <a:r>
              <a:rPr lang="en-US" sz="1500" b="1" dirty="0">
                <a:solidFill>
                  <a:schemeClr val="tx1"/>
                </a:solidFill>
              </a:rPr>
              <a:t>Add a hint</a:t>
            </a:r>
            <a:endParaRPr lang="en-US" sz="1500" dirty="0"/>
          </a:p>
        </p:txBody>
      </p:sp>
      <p:sp>
        <p:nvSpPr>
          <p:cNvPr id="11" name="Text 7"/>
          <p:cNvSpPr txBox="1"/>
          <p:nvPr/>
        </p:nvSpPr>
        <p:spPr>
          <a:xfrm>
            <a:off x="2450592" y="2834640"/>
            <a:ext cx="1691640" cy="1097280"/>
          </a:xfrm>
          <a:prstGeom prst="rect">
            <a:avLst/>
          </a:prstGeom>
          <a:noFill/>
          <a:ln/>
        </p:spPr>
        <p:txBody>
          <a:bodyPr wrap="square" lIns="0" tIns="0" rIns="0" bIns="0" rtlCol="0" anchor="t"/>
          <a:lstStyle/>
          <a:p>
            <a:pPr algn="ctr" indent="0" marL="0">
              <a:buNone/>
            </a:pPr>
            <a:r>
              <a:rPr lang="en-US" sz="1200" dirty="0">
                <a:solidFill>
                  <a:schemeClr val="accent5"/>
                </a:solidFill>
              </a:rPr>
              <a:t>No hint, a wrong hint, or a right one, spread across the letters</a:t>
            </a:r>
            <a:endParaRPr lang="en-US" sz="1200" dirty="0"/>
          </a:p>
        </p:txBody>
      </p:sp>
      <p:sp>
        <p:nvSpPr>
          <p:cNvPr id="12" name="arrow2"/>
          <p:cNvSpPr/>
          <p:nvPr/>
        </p:nvSpPr>
        <p:spPr>
          <a:xfrm>
            <a:off x="3845052" y="1847088"/>
            <a:ext cx="758952" cy="0"/>
          </a:xfrm>
          <a:prstGeom prst="line">
            <a:avLst/>
          </a:prstGeom>
          <a:noFill/>
          <a:ln w="15875">
            <a:solidFill>
              <a:schemeClr val="accent5"/>
            </a:solidFill>
            <a:prstDash val="solid"/>
            <a:tailEnd type="triangle"/>
          </a:ln>
        </p:spPr>
      </p:sp>
      <p:sp>
        <p:nvSpPr>
          <p:cNvPr id="13" name="step3-circle"/>
          <p:cNvSpPr/>
          <p:nvPr/>
        </p:nvSpPr>
        <p:spPr>
          <a:xfrm>
            <a:off x="4718304" y="1417320"/>
            <a:ext cx="868680" cy="868680"/>
          </a:xfrm>
          <a:prstGeom prst="ellipse">
            <a:avLst/>
          </a:prstGeom>
          <a:solidFill>
            <a:schemeClr val="accent1">
              <a:alpha val="16000"/>
            </a:schemeClr>
          </a:solidFill>
          <a:ln/>
        </p:spPr>
      </p:sp>
      <p:pic>
        <p:nvPicPr>
          <p:cNvPr id="14" name="step3-icon" descr="preencoded.png">    </p:cNvPr>
          <p:cNvPicPr>
            <a:picLocks noChangeAspect="1"/>
          </p:cNvPicPr>
          <p:nvPr/>
        </p:nvPicPr>
        <p:blipFill>
          <a:blip r:embed="rId3"/>
          <a:stretch>
            <a:fillRect/>
          </a:stretch>
        </p:blipFill>
        <p:spPr>
          <a:xfrm>
            <a:off x="4944161" y="1643177"/>
            <a:ext cx="416966" cy="416966"/>
          </a:xfrm>
          <a:prstGeom prst="rect">
            <a:avLst/>
          </a:prstGeom>
        </p:spPr>
      </p:pic>
      <p:sp>
        <p:nvSpPr>
          <p:cNvPr id="15" name="Text 10"/>
          <p:cNvSpPr txBox="1"/>
          <p:nvPr/>
        </p:nvSpPr>
        <p:spPr>
          <a:xfrm>
            <a:off x="4261104" y="2423160"/>
            <a:ext cx="1783080" cy="411480"/>
          </a:xfrm>
          <a:prstGeom prst="rect">
            <a:avLst/>
          </a:prstGeom>
          <a:noFill/>
          <a:ln/>
        </p:spPr>
        <p:txBody>
          <a:bodyPr wrap="square" lIns="0" tIns="0" rIns="0" bIns="0" rtlCol="0" anchor="ctr"/>
          <a:lstStyle/>
          <a:p>
            <a:pPr algn="ctr" indent="0" marL="0">
              <a:buNone/>
            </a:pPr>
            <a:r>
              <a:rPr lang="en-US" sz="1500" b="1" dirty="0">
                <a:solidFill>
                  <a:schemeClr val="tx1"/>
                </a:solidFill>
              </a:rPr>
              <a:t>Ask 6 models</a:t>
            </a:r>
            <a:endParaRPr lang="en-US" sz="1500" dirty="0"/>
          </a:p>
        </p:txBody>
      </p:sp>
      <p:sp>
        <p:nvSpPr>
          <p:cNvPr id="16" name="Text 11"/>
          <p:cNvSpPr txBox="1"/>
          <p:nvPr/>
        </p:nvSpPr>
        <p:spPr>
          <a:xfrm>
            <a:off x="4306824" y="2834640"/>
            <a:ext cx="1691640" cy="1097280"/>
          </a:xfrm>
          <a:prstGeom prst="rect">
            <a:avLst/>
          </a:prstGeom>
          <a:noFill/>
          <a:ln/>
        </p:spPr>
        <p:txBody>
          <a:bodyPr wrap="square" lIns="0" tIns="0" rIns="0" bIns="0" rtlCol="0" anchor="t"/>
          <a:lstStyle/>
          <a:p>
            <a:pPr algn="ctr" indent="0" marL="0">
              <a:buNone/>
            </a:pPr>
            <a:r>
              <a:rPr lang="en-US" sz="1200" dirty="0">
                <a:solidFill>
                  <a:schemeClr val="accent5"/>
                </a:solidFill>
              </a:rPr>
              <a:t>3 pairs on ASU’s free Voyager service; we save every reply</a:t>
            </a:r>
            <a:endParaRPr lang="en-US" sz="1200" dirty="0"/>
          </a:p>
        </p:txBody>
      </p:sp>
      <p:sp>
        <p:nvSpPr>
          <p:cNvPr id="17" name="arrow3"/>
          <p:cNvSpPr/>
          <p:nvPr/>
        </p:nvSpPr>
        <p:spPr>
          <a:xfrm>
            <a:off x="5701284" y="1847088"/>
            <a:ext cx="758952" cy="0"/>
          </a:xfrm>
          <a:prstGeom prst="line">
            <a:avLst/>
          </a:prstGeom>
          <a:noFill/>
          <a:ln w="15875">
            <a:solidFill>
              <a:schemeClr val="accent5"/>
            </a:solidFill>
            <a:prstDash val="solid"/>
            <a:tailEnd type="triangle"/>
          </a:ln>
        </p:spPr>
      </p:sp>
      <p:sp>
        <p:nvSpPr>
          <p:cNvPr id="18" name="step4-circle"/>
          <p:cNvSpPr/>
          <p:nvPr/>
        </p:nvSpPr>
        <p:spPr>
          <a:xfrm>
            <a:off x="6574536" y="1417320"/>
            <a:ext cx="868680" cy="868680"/>
          </a:xfrm>
          <a:prstGeom prst="ellipse">
            <a:avLst/>
          </a:prstGeom>
          <a:solidFill>
            <a:schemeClr val="accent2">
              <a:alpha val="16000"/>
            </a:schemeClr>
          </a:solidFill>
          <a:ln/>
        </p:spPr>
      </p:sp>
      <p:pic>
        <p:nvPicPr>
          <p:cNvPr id="19" name="step4-icon" descr="preencoded.png">    </p:cNvPr>
          <p:cNvPicPr>
            <a:picLocks noChangeAspect="1"/>
          </p:cNvPicPr>
          <p:nvPr/>
        </p:nvPicPr>
        <p:blipFill>
          <a:blip r:embed="rId4"/>
          <a:stretch>
            <a:fillRect/>
          </a:stretch>
        </p:blipFill>
        <p:spPr>
          <a:xfrm>
            <a:off x="6800393" y="1643177"/>
            <a:ext cx="416966" cy="416966"/>
          </a:xfrm>
          <a:prstGeom prst="rect">
            <a:avLst/>
          </a:prstGeom>
        </p:spPr>
      </p:pic>
      <p:sp>
        <p:nvSpPr>
          <p:cNvPr id="20" name="Text 14"/>
          <p:cNvSpPr txBox="1"/>
          <p:nvPr/>
        </p:nvSpPr>
        <p:spPr>
          <a:xfrm>
            <a:off x="6117336" y="2423160"/>
            <a:ext cx="1783080" cy="411480"/>
          </a:xfrm>
          <a:prstGeom prst="rect">
            <a:avLst/>
          </a:prstGeom>
          <a:noFill/>
          <a:ln/>
        </p:spPr>
        <p:txBody>
          <a:bodyPr wrap="square" lIns="0" tIns="0" rIns="0" bIns="0" rtlCol="0" anchor="ctr"/>
          <a:lstStyle/>
          <a:p>
            <a:pPr algn="ctr" indent="0" marL="0">
              <a:buNone/>
            </a:pPr>
            <a:r>
              <a:rPr lang="en-US" sz="1500" b="1" dirty="0">
                <a:solidFill>
                  <a:schemeClr val="tx1"/>
                </a:solidFill>
              </a:rPr>
              <a:t>Split the reply</a:t>
            </a:r>
            <a:endParaRPr lang="en-US" sz="1500" dirty="0"/>
          </a:p>
        </p:txBody>
      </p:sp>
      <p:sp>
        <p:nvSpPr>
          <p:cNvPr id="21" name="Text 15"/>
          <p:cNvSpPr txBox="1"/>
          <p:nvPr/>
        </p:nvSpPr>
        <p:spPr>
          <a:xfrm>
            <a:off x="6163056" y="2834640"/>
            <a:ext cx="1691640" cy="1097280"/>
          </a:xfrm>
          <a:prstGeom prst="rect">
            <a:avLst/>
          </a:prstGeom>
          <a:noFill/>
          <a:ln/>
        </p:spPr>
        <p:txBody>
          <a:bodyPr wrap="square" lIns="0" tIns="0" rIns="0" bIns="0" rtlCol="0" anchor="t"/>
          <a:lstStyle/>
          <a:p>
            <a:pPr algn="ctr" indent="0" marL="0">
              <a:buNone/>
            </a:pPr>
            <a:r>
              <a:rPr lang="en-US" sz="1200" dirty="0">
                <a:solidFill>
                  <a:schemeClr val="accent5"/>
                </a:solidFill>
              </a:rPr>
              <a:t>The private reasoning and the final answer come back separately</a:t>
            </a:r>
            <a:endParaRPr lang="en-US" sz="1200" dirty="0"/>
          </a:p>
        </p:txBody>
      </p:sp>
      <p:sp>
        <p:nvSpPr>
          <p:cNvPr id="22" name="arrow4"/>
          <p:cNvSpPr/>
          <p:nvPr/>
        </p:nvSpPr>
        <p:spPr>
          <a:xfrm>
            <a:off x="7557516" y="1847088"/>
            <a:ext cx="758952" cy="0"/>
          </a:xfrm>
          <a:prstGeom prst="line">
            <a:avLst/>
          </a:prstGeom>
          <a:noFill/>
          <a:ln w="15875">
            <a:solidFill>
              <a:schemeClr val="accent5"/>
            </a:solidFill>
            <a:prstDash val="solid"/>
            <a:tailEnd type="triangle"/>
          </a:ln>
        </p:spPr>
      </p:sp>
      <p:sp>
        <p:nvSpPr>
          <p:cNvPr id="23" name="step5-circle"/>
          <p:cNvSpPr/>
          <p:nvPr/>
        </p:nvSpPr>
        <p:spPr>
          <a:xfrm>
            <a:off x="8430768" y="1417320"/>
            <a:ext cx="868680" cy="868680"/>
          </a:xfrm>
          <a:prstGeom prst="ellipse">
            <a:avLst/>
          </a:prstGeom>
          <a:solidFill>
            <a:schemeClr val="accent1">
              <a:alpha val="16000"/>
            </a:schemeClr>
          </a:solidFill>
          <a:ln/>
        </p:spPr>
      </p:sp>
      <p:pic>
        <p:nvPicPr>
          <p:cNvPr id="24" name="step5-icon" descr="preencoded.png">    </p:cNvPr>
          <p:cNvPicPr>
            <a:picLocks noChangeAspect="1"/>
          </p:cNvPicPr>
          <p:nvPr/>
        </p:nvPicPr>
        <p:blipFill>
          <a:blip r:embed="rId5"/>
          <a:stretch>
            <a:fillRect/>
          </a:stretch>
        </p:blipFill>
        <p:spPr>
          <a:xfrm>
            <a:off x="8656625" y="1643177"/>
            <a:ext cx="416966" cy="416966"/>
          </a:xfrm>
          <a:prstGeom prst="rect">
            <a:avLst/>
          </a:prstGeom>
        </p:spPr>
      </p:pic>
      <p:sp>
        <p:nvSpPr>
          <p:cNvPr id="25" name="Text 18"/>
          <p:cNvSpPr txBox="1"/>
          <p:nvPr/>
        </p:nvSpPr>
        <p:spPr>
          <a:xfrm>
            <a:off x="7973568" y="2423160"/>
            <a:ext cx="1783080" cy="411480"/>
          </a:xfrm>
          <a:prstGeom prst="rect">
            <a:avLst/>
          </a:prstGeom>
          <a:noFill/>
          <a:ln/>
        </p:spPr>
        <p:txBody>
          <a:bodyPr wrap="square" lIns="0" tIns="0" rIns="0" bIns="0" rtlCol="0" anchor="ctr"/>
          <a:lstStyle/>
          <a:p>
            <a:pPr algn="ctr" indent="0" marL="0">
              <a:buNone/>
            </a:pPr>
            <a:r>
              <a:rPr lang="en-US" sz="1500" b="1" dirty="0">
                <a:solidFill>
                  <a:schemeClr val="tx1"/>
                </a:solidFill>
              </a:rPr>
              <a:t>Score</a:t>
            </a:r>
            <a:endParaRPr lang="en-US" sz="1500" dirty="0"/>
          </a:p>
        </p:txBody>
      </p:sp>
      <p:sp>
        <p:nvSpPr>
          <p:cNvPr id="26" name="Text 19"/>
          <p:cNvSpPr txBox="1"/>
          <p:nvPr/>
        </p:nvSpPr>
        <p:spPr>
          <a:xfrm>
            <a:off x="8019288" y="2834640"/>
            <a:ext cx="1691640" cy="1097280"/>
          </a:xfrm>
          <a:prstGeom prst="rect">
            <a:avLst/>
          </a:prstGeom>
          <a:noFill/>
          <a:ln/>
        </p:spPr>
        <p:txBody>
          <a:bodyPr wrap="square" lIns="0" tIns="0" rIns="0" bIns="0" rtlCol="0" anchor="t"/>
          <a:lstStyle/>
          <a:p>
            <a:pPr algn="ctr" indent="0" marL="0">
              <a:buNone/>
            </a:pPr>
            <a:r>
              <a:rPr lang="en-US" sz="1200" dirty="0">
                <a:solidFill>
                  <a:schemeClr val="accent5"/>
                </a:solidFill>
              </a:rPr>
              <a:t>Read off the answer letter; check if the hint is mentioned</a:t>
            </a:r>
            <a:endParaRPr lang="en-US" sz="1200" dirty="0"/>
          </a:p>
        </p:txBody>
      </p:sp>
      <p:sp>
        <p:nvSpPr>
          <p:cNvPr id="27" name="arrow5"/>
          <p:cNvSpPr/>
          <p:nvPr/>
        </p:nvSpPr>
        <p:spPr>
          <a:xfrm>
            <a:off x="9413748" y="1847088"/>
            <a:ext cx="758952" cy="0"/>
          </a:xfrm>
          <a:prstGeom prst="line">
            <a:avLst/>
          </a:prstGeom>
          <a:noFill/>
          <a:ln w="15875">
            <a:solidFill>
              <a:schemeClr val="accent5"/>
            </a:solidFill>
            <a:prstDash val="solid"/>
            <a:tailEnd type="triangle"/>
          </a:ln>
        </p:spPr>
      </p:sp>
      <p:sp>
        <p:nvSpPr>
          <p:cNvPr id="28" name="step6-circle"/>
          <p:cNvSpPr/>
          <p:nvPr/>
        </p:nvSpPr>
        <p:spPr>
          <a:xfrm>
            <a:off x="10287000" y="1417320"/>
            <a:ext cx="868680" cy="868680"/>
          </a:xfrm>
          <a:prstGeom prst="ellipse">
            <a:avLst/>
          </a:prstGeom>
          <a:solidFill>
            <a:schemeClr val="accent2">
              <a:alpha val="16000"/>
            </a:schemeClr>
          </a:solidFill>
          <a:ln/>
        </p:spPr>
      </p:sp>
      <p:pic>
        <p:nvPicPr>
          <p:cNvPr id="29" name="step6-icon" descr="preencoded.png">    </p:cNvPr>
          <p:cNvPicPr>
            <a:picLocks noChangeAspect="1"/>
          </p:cNvPicPr>
          <p:nvPr/>
        </p:nvPicPr>
        <p:blipFill>
          <a:blip r:embed="rId6"/>
          <a:stretch>
            <a:fillRect/>
          </a:stretch>
        </p:blipFill>
        <p:spPr>
          <a:xfrm>
            <a:off x="10512857" y="1643177"/>
            <a:ext cx="416966" cy="416966"/>
          </a:xfrm>
          <a:prstGeom prst="rect">
            <a:avLst/>
          </a:prstGeom>
        </p:spPr>
      </p:pic>
      <p:sp>
        <p:nvSpPr>
          <p:cNvPr id="30" name="Text 22"/>
          <p:cNvSpPr txBox="1"/>
          <p:nvPr/>
        </p:nvSpPr>
        <p:spPr>
          <a:xfrm>
            <a:off x="9829800" y="2423160"/>
            <a:ext cx="1783080" cy="411480"/>
          </a:xfrm>
          <a:prstGeom prst="rect">
            <a:avLst/>
          </a:prstGeom>
          <a:noFill/>
          <a:ln/>
        </p:spPr>
        <p:txBody>
          <a:bodyPr wrap="square" lIns="0" tIns="0" rIns="0" bIns="0" rtlCol="0" anchor="ctr"/>
          <a:lstStyle/>
          <a:p>
            <a:pPr algn="ctr" indent="0" marL="0">
              <a:buNone/>
            </a:pPr>
            <a:r>
              <a:rPr lang="en-US" sz="1500" b="1" dirty="0">
                <a:solidFill>
                  <a:schemeClr val="tx1"/>
                </a:solidFill>
              </a:rPr>
              <a:t>Compare</a:t>
            </a:r>
            <a:endParaRPr lang="en-US" sz="1500" dirty="0"/>
          </a:p>
        </p:txBody>
      </p:sp>
      <p:sp>
        <p:nvSpPr>
          <p:cNvPr id="31" name="Text 23"/>
          <p:cNvSpPr txBox="1"/>
          <p:nvPr/>
        </p:nvSpPr>
        <p:spPr>
          <a:xfrm>
            <a:off x="9875520" y="2834640"/>
            <a:ext cx="1691640" cy="1097280"/>
          </a:xfrm>
          <a:prstGeom prst="rect">
            <a:avLst/>
          </a:prstGeom>
          <a:noFill/>
          <a:ln/>
        </p:spPr>
        <p:txBody>
          <a:bodyPr wrap="square" lIns="0" tIns="0" rIns="0" bIns="0" rtlCol="0" anchor="t"/>
          <a:lstStyle/>
          <a:p>
            <a:pPr algn="ctr" indent="0" marL="0">
              <a:buNone/>
            </a:pPr>
            <a:r>
              <a:rPr lang="en-US" sz="1200" dirty="0">
                <a:solidFill>
                  <a:schemeClr val="accent5"/>
                </a:solidFill>
              </a:rPr>
              <a:t>With vs without the hint, with 95% ranges</a:t>
            </a:r>
            <a:endParaRPr lang="en-US" sz="1200" dirty="0"/>
          </a:p>
        </p:txBody>
      </p:sp>
      <p:sp>
        <p:nvSpPr>
          <p:cNvPr id="32" name="stat1"/>
          <p:cNvSpPr/>
          <p:nvPr/>
        </p:nvSpPr>
        <p:spPr>
          <a:xfrm>
            <a:off x="548640" y="4206240"/>
            <a:ext cx="2606040" cy="1783080"/>
          </a:xfrm>
          <a:prstGeom prst="roundRect">
            <a:avLst>
              <a:gd name="adj" fmla="val 4103"/>
            </a:avLst>
          </a:prstGeom>
          <a:solidFill>
            <a:schemeClr val="bg2"/>
          </a:solidFill>
          <a:ln/>
        </p:spPr>
      </p:sp>
      <p:sp>
        <p:nvSpPr>
          <p:cNvPr id="33" name="Text 25"/>
          <p:cNvSpPr txBox="1"/>
          <p:nvPr/>
        </p:nvSpPr>
        <p:spPr>
          <a:xfrm>
            <a:off x="548640" y="4389120"/>
            <a:ext cx="2606040" cy="868680"/>
          </a:xfrm>
          <a:prstGeom prst="rect">
            <a:avLst/>
          </a:prstGeom>
          <a:noFill/>
          <a:ln/>
        </p:spPr>
        <p:txBody>
          <a:bodyPr wrap="square" lIns="0" tIns="0" rIns="0" bIns="0" rtlCol="0" anchor="ctr"/>
          <a:lstStyle/>
          <a:p>
            <a:pPr algn="ctr" indent="0" marL="0">
              <a:buNone/>
            </a:pPr>
            <a:r>
              <a:rPr lang="en-US" sz="4000" b="1" dirty="0">
                <a:solidFill>
                  <a:schemeClr val="accent1"/>
                </a:solidFill>
              </a:rPr>
              <a:t>1,056</a:t>
            </a:r>
            <a:endParaRPr lang="en-US" sz="4000" dirty="0"/>
          </a:p>
        </p:txBody>
      </p:sp>
      <p:sp>
        <p:nvSpPr>
          <p:cNvPr id="34" name="Text 26"/>
          <p:cNvSpPr txBox="1"/>
          <p:nvPr/>
        </p:nvSpPr>
        <p:spPr>
          <a:xfrm>
            <a:off x="685800" y="5303520"/>
            <a:ext cx="2331720" cy="502920"/>
          </a:xfrm>
          <a:prstGeom prst="rect">
            <a:avLst/>
          </a:prstGeom>
          <a:noFill/>
          <a:ln/>
        </p:spPr>
        <p:txBody>
          <a:bodyPr wrap="square" lIns="0" tIns="0" rIns="0" bIns="0" rtlCol="0" anchor="ctr"/>
          <a:lstStyle/>
          <a:p>
            <a:pPr algn="ctr" indent="0" marL="0">
              <a:buNone/>
            </a:pPr>
            <a:r>
              <a:rPr lang="en-US" sz="1300" dirty="0">
                <a:solidFill>
                  <a:schemeClr val="tx1"/>
                </a:solidFill>
              </a:rPr>
              <a:t>questions sent this round</a:t>
            </a:r>
            <a:endParaRPr lang="en-US" sz="1300" dirty="0"/>
          </a:p>
        </p:txBody>
      </p:sp>
      <p:sp>
        <p:nvSpPr>
          <p:cNvPr id="35" name="stat2"/>
          <p:cNvSpPr/>
          <p:nvPr/>
        </p:nvSpPr>
        <p:spPr>
          <a:xfrm>
            <a:off x="3337560" y="4206240"/>
            <a:ext cx="2606040" cy="1783080"/>
          </a:xfrm>
          <a:prstGeom prst="roundRect">
            <a:avLst>
              <a:gd name="adj" fmla="val 4103"/>
            </a:avLst>
          </a:prstGeom>
          <a:solidFill>
            <a:schemeClr val="bg2"/>
          </a:solidFill>
          <a:ln/>
        </p:spPr>
      </p:sp>
      <p:sp>
        <p:nvSpPr>
          <p:cNvPr id="36" name="Text 28"/>
          <p:cNvSpPr txBox="1"/>
          <p:nvPr/>
        </p:nvSpPr>
        <p:spPr>
          <a:xfrm>
            <a:off x="3337560" y="4389120"/>
            <a:ext cx="2606040" cy="868680"/>
          </a:xfrm>
          <a:prstGeom prst="rect">
            <a:avLst/>
          </a:prstGeom>
          <a:noFill/>
          <a:ln/>
        </p:spPr>
        <p:txBody>
          <a:bodyPr wrap="square" lIns="0" tIns="0" rIns="0" bIns="0" rtlCol="0" anchor="ctr"/>
          <a:lstStyle/>
          <a:p>
            <a:pPr algn="ctr" indent="0" marL="0">
              <a:buNone/>
            </a:pPr>
            <a:r>
              <a:rPr lang="en-US" sz="4000" b="1" dirty="0">
                <a:solidFill>
                  <a:schemeClr val="accent2"/>
                </a:solidFill>
              </a:rPr>
              <a:t>6</a:t>
            </a:r>
            <a:endParaRPr lang="en-US" sz="4000" dirty="0"/>
          </a:p>
        </p:txBody>
      </p:sp>
      <p:sp>
        <p:nvSpPr>
          <p:cNvPr id="37" name="Text 29"/>
          <p:cNvSpPr txBox="1"/>
          <p:nvPr/>
        </p:nvSpPr>
        <p:spPr>
          <a:xfrm>
            <a:off x="3474720" y="5303520"/>
            <a:ext cx="2331720" cy="502920"/>
          </a:xfrm>
          <a:prstGeom prst="rect">
            <a:avLst/>
          </a:prstGeom>
          <a:noFill/>
          <a:ln/>
        </p:spPr>
        <p:txBody>
          <a:bodyPr wrap="square" lIns="0" tIns="0" rIns="0" bIns="0" rtlCol="0" anchor="ctr"/>
          <a:lstStyle/>
          <a:p>
            <a:pPr algn="ctr" indent="0" marL="0">
              <a:buNone/>
            </a:pPr>
            <a:r>
              <a:rPr lang="en-US" sz="1300" dirty="0">
                <a:solidFill>
                  <a:schemeClr val="tx1"/>
                </a:solidFill>
              </a:rPr>
              <a:t>models from 2 families</a:t>
            </a:r>
            <a:endParaRPr lang="en-US" sz="1300" dirty="0"/>
          </a:p>
        </p:txBody>
      </p:sp>
      <p:sp>
        <p:nvSpPr>
          <p:cNvPr id="38" name="stat3"/>
          <p:cNvSpPr/>
          <p:nvPr/>
        </p:nvSpPr>
        <p:spPr>
          <a:xfrm>
            <a:off x="6126480" y="4206240"/>
            <a:ext cx="2606040" cy="1783080"/>
          </a:xfrm>
          <a:prstGeom prst="roundRect">
            <a:avLst>
              <a:gd name="adj" fmla="val 4103"/>
            </a:avLst>
          </a:prstGeom>
          <a:solidFill>
            <a:schemeClr val="bg2"/>
          </a:solidFill>
          <a:ln/>
        </p:spPr>
      </p:sp>
      <p:sp>
        <p:nvSpPr>
          <p:cNvPr id="39" name="Text 31"/>
          <p:cNvSpPr txBox="1"/>
          <p:nvPr/>
        </p:nvSpPr>
        <p:spPr>
          <a:xfrm>
            <a:off x="6126480" y="4389120"/>
            <a:ext cx="2606040" cy="868680"/>
          </a:xfrm>
          <a:prstGeom prst="rect">
            <a:avLst/>
          </a:prstGeom>
          <a:noFill/>
          <a:ln/>
        </p:spPr>
        <p:txBody>
          <a:bodyPr wrap="square" lIns="0" tIns="0" rIns="0" bIns="0" rtlCol="0" anchor="ctr"/>
          <a:lstStyle/>
          <a:p>
            <a:pPr algn="ctr" indent="0" marL="0">
              <a:buNone/>
            </a:pPr>
            <a:r>
              <a:rPr lang="en-US" sz="4000" b="1" dirty="0">
                <a:solidFill>
                  <a:schemeClr val="accent1"/>
                </a:solidFill>
              </a:rPr>
              <a:t>0</a:t>
            </a:r>
            <a:endParaRPr lang="en-US" sz="4000" dirty="0"/>
          </a:p>
        </p:txBody>
      </p:sp>
      <p:sp>
        <p:nvSpPr>
          <p:cNvPr id="40" name="Text 32"/>
          <p:cNvSpPr txBox="1"/>
          <p:nvPr/>
        </p:nvSpPr>
        <p:spPr>
          <a:xfrm>
            <a:off x="6263640" y="5303520"/>
            <a:ext cx="2331720" cy="502920"/>
          </a:xfrm>
          <a:prstGeom prst="rect">
            <a:avLst/>
          </a:prstGeom>
          <a:noFill/>
          <a:ln/>
        </p:spPr>
        <p:txBody>
          <a:bodyPr wrap="square" lIns="0" tIns="0" rIns="0" bIns="0" rtlCol="0" anchor="ctr"/>
          <a:lstStyle/>
          <a:p>
            <a:pPr algn="ctr" indent="0" marL="0">
              <a:buNone/>
            </a:pPr>
            <a:r>
              <a:rPr lang="en-US" sz="1300" dirty="0">
                <a:solidFill>
                  <a:schemeClr val="tx1"/>
                </a:solidFill>
              </a:rPr>
              <a:t>failed calls</a:t>
            </a:r>
            <a:endParaRPr lang="en-US" sz="1300" dirty="0"/>
          </a:p>
        </p:txBody>
      </p:sp>
      <p:sp>
        <p:nvSpPr>
          <p:cNvPr id="41" name="stat4"/>
          <p:cNvSpPr/>
          <p:nvPr/>
        </p:nvSpPr>
        <p:spPr>
          <a:xfrm>
            <a:off x="8915400" y="4206240"/>
            <a:ext cx="2606040" cy="1783080"/>
          </a:xfrm>
          <a:prstGeom prst="roundRect">
            <a:avLst>
              <a:gd name="adj" fmla="val 4103"/>
            </a:avLst>
          </a:prstGeom>
          <a:solidFill>
            <a:schemeClr val="bg2"/>
          </a:solidFill>
          <a:ln/>
        </p:spPr>
      </p:sp>
      <p:sp>
        <p:nvSpPr>
          <p:cNvPr id="42" name="Text 34"/>
          <p:cNvSpPr txBox="1"/>
          <p:nvPr/>
        </p:nvSpPr>
        <p:spPr>
          <a:xfrm>
            <a:off x="8915400" y="4389120"/>
            <a:ext cx="2606040" cy="868680"/>
          </a:xfrm>
          <a:prstGeom prst="rect">
            <a:avLst/>
          </a:prstGeom>
          <a:noFill/>
          <a:ln/>
        </p:spPr>
        <p:txBody>
          <a:bodyPr wrap="square" lIns="0" tIns="0" rIns="0" bIns="0" rtlCol="0" anchor="ctr"/>
          <a:lstStyle/>
          <a:p>
            <a:pPr algn="ctr" indent="0" marL="0">
              <a:buNone/>
            </a:pPr>
            <a:r>
              <a:rPr lang="en-US" sz="4000" b="1" dirty="0">
                <a:solidFill>
                  <a:schemeClr val="accent2"/>
                </a:solidFill>
              </a:rPr>
              <a:t>312</a:t>
            </a:r>
            <a:endParaRPr lang="en-US" sz="4000" dirty="0"/>
          </a:p>
        </p:txBody>
      </p:sp>
      <p:sp>
        <p:nvSpPr>
          <p:cNvPr id="43" name="Text 35"/>
          <p:cNvSpPr txBox="1"/>
          <p:nvPr/>
        </p:nvSpPr>
        <p:spPr>
          <a:xfrm>
            <a:off x="9052560" y="5303520"/>
            <a:ext cx="2331720" cy="502920"/>
          </a:xfrm>
          <a:prstGeom prst="rect">
            <a:avLst/>
          </a:prstGeom>
          <a:noFill/>
          <a:ln/>
        </p:spPr>
        <p:txBody>
          <a:bodyPr wrap="square" lIns="0" tIns="0" rIns="0" bIns="0" rtlCol="0" anchor="ctr"/>
          <a:lstStyle/>
          <a:p>
            <a:pPr algn="ctr" indent="0" marL="0">
              <a:buNone/>
            </a:pPr>
            <a:r>
              <a:rPr lang="en-US" sz="1300" dirty="0">
                <a:solidFill>
                  <a:schemeClr val="tx1"/>
                </a:solidFill>
              </a:rPr>
              <a:t>calls in earlier test runs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 1: only Olmo 3 7B Instruct follows wrong hints</a:t>
            </a:r>
            <a:endParaRPr lang="en-US" sz="3000" dirty="0"/>
          </a:p>
        </p:txBody>
      </p:sp>
      <p:graphicFrame>
        <p:nvGraphicFramePr>
          <p:cNvPr id="3" name="Chart 0"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r1-card"/>
          <p:cNvSpPr/>
          <p:nvPr/>
        </p:nvSpPr>
        <p:spPr>
          <a:xfrm>
            <a:off x="7863840" y="1280160"/>
            <a:ext cx="3749040" cy="4846320"/>
          </a:xfrm>
          <a:prstGeom prst="roundRect">
            <a:avLst>
              <a:gd name="adj" fmla="val 1951"/>
            </a:avLst>
          </a:prstGeom>
          <a:solidFill>
            <a:schemeClr val="bg2"/>
          </a:solidFill>
          <a:ln/>
        </p:spPr>
      </p:sp>
      <p:sp>
        <p:nvSpPr>
          <p:cNvPr id="5" name="Text 2"/>
          <p:cNvSpPr txBox="1"/>
          <p:nvPr/>
        </p:nvSpPr>
        <p:spPr>
          <a:xfrm>
            <a:off x="8092440" y="1463040"/>
            <a:ext cx="3383280" cy="411480"/>
          </a:xfrm>
          <a:prstGeom prst="rect">
            <a:avLst/>
          </a:prstGeom>
          <a:noFill/>
          <a:ln/>
        </p:spPr>
        <p:txBody>
          <a:bodyPr wrap="square" lIns="0" tIns="0" rIns="0" bIns="0" rtlCol="0" anchor="ctr"/>
          <a:lstStyle/>
          <a:p>
            <a:pPr indent="0" marL="0">
              <a:buNone/>
            </a:pPr>
            <a:r>
              <a:rPr lang="en-US" sz="1350" b="1" dirty="0">
                <a:solidFill>
                  <a:schemeClr val="tx1"/>
                </a:solidFill>
              </a:rPr>
              <a:t>How much the hint moved answers (95% range)</a:t>
            </a:r>
            <a:endParaRPr lang="en-US" sz="1350" dirty="0"/>
          </a:p>
        </p:txBody>
      </p:sp>
      <p:sp>
        <p:nvSpPr>
          <p:cNvPr id="6" name="Text 3"/>
          <p:cNvSpPr txBox="1"/>
          <p:nvPr/>
        </p:nvSpPr>
        <p:spPr>
          <a:xfrm>
            <a:off x="8092440" y="1920240"/>
            <a:ext cx="3383280" cy="1920240"/>
          </a:xfrm>
          <a:prstGeom prst="rect">
            <a:avLst/>
          </a:prstGeom>
          <a:noFill/>
          <a:ln/>
        </p:spPr>
        <p:txBody>
          <a:bodyPr wrap="square" lIns="0" tIns="0" rIns="0" bIns="0" rtlCol="0" anchor="t"/>
          <a:lstStyle/>
          <a:p>
            <a:pPr indent="0" marL="0">
              <a:spcAft>
                <a:spcPts val="400"/>
              </a:spcAft>
              <a:buNone/>
            </a:pPr>
            <a:r>
              <a:rPr lang="en-US" sz="1150" dirty="0">
                <a:solidFill>
                  <a:schemeClr val="tx1"/>
                </a:solidFill>
              </a:rPr>
              <a:t>Olmo 3 7B Instruct:  +10.4 points (2.1 to 18.8)</a:t>
            </a:r>
            <a:endParaRPr lang="en-US" sz="1150" dirty="0"/>
          </a:p>
          <a:p>
            <a:pPr indent="0" marL="0">
              <a:spcAft>
                <a:spcPts val="400"/>
              </a:spcAft>
              <a:buNone/>
            </a:pPr>
            <a:r>
              <a:rPr lang="en-US" sz="1150" dirty="0">
                <a:solidFill>
                  <a:schemeClr val="tx1"/>
                </a:solidFill>
              </a:rPr>
              <a:t>Olmo 3 7B Think:  +2.1 points (0.0 to 6.3)</a:t>
            </a:r>
            <a:endParaRPr lang="en-US" sz="1150" dirty="0"/>
          </a:p>
          <a:p>
            <a:pPr indent="0" marL="0">
              <a:spcAft>
                <a:spcPts val="400"/>
              </a:spcAft>
              <a:buNone/>
            </a:pPr>
            <a:r>
              <a:rPr lang="en-US" sz="1150" dirty="0">
                <a:solidFill>
                  <a:schemeClr val="tx1"/>
                </a:solidFill>
              </a:rPr>
              <a:t>Olmo 3 32B Instruct:  no effect</a:t>
            </a:r>
            <a:endParaRPr lang="en-US" sz="1150" dirty="0"/>
          </a:p>
          <a:p>
            <a:pPr indent="0" marL="0">
              <a:spcAft>
                <a:spcPts val="400"/>
              </a:spcAft>
              <a:buNone/>
            </a:pPr>
            <a:r>
              <a:rPr lang="en-US" sz="1150" dirty="0">
                <a:solidFill>
                  <a:schemeClr val="tx1"/>
                </a:solidFill>
              </a:rPr>
              <a:t>Olmo 3 32B Think:  no effect</a:t>
            </a:r>
            <a:endParaRPr lang="en-US" sz="1150" dirty="0"/>
          </a:p>
          <a:p>
            <a:pPr indent="0" marL="0">
              <a:spcAft>
                <a:spcPts val="400"/>
              </a:spcAft>
              <a:buNone/>
            </a:pPr>
            <a:r>
              <a:rPr lang="en-US" sz="1150" dirty="0">
                <a:solidFill>
                  <a:schemeClr val="tx1"/>
                </a:solidFill>
              </a:rPr>
              <a:t>Qwen3 30B Instruct:  no effect</a:t>
            </a:r>
            <a:endParaRPr lang="en-US" sz="1150" dirty="0"/>
          </a:p>
          <a:p>
            <a:pPr indent="0" marL="0">
              <a:spcAft>
                <a:spcPts val="400"/>
              </a:spcAft>
              <a:buNone/>
            </a:pPr>
            <a:r>
              <a:rPr lang="en-US" sz="1150" dirty="0">
                <a:solidFill>
                  <a:schemeClr val="tx1"/>
                </a:solidFill>
              </a:rPr>
              <a:t>Qwen3 30B Thinking:  no effect</a:t>
            </a:r>
            <a:endParaRPr lang="en-US" sz="1150" dirty="0"/>
          </a:p>
        </p:txBody>
      </p:sp>
      <p:sp>
        <p:nvSpPr>
          <p:cNvPr id="7" name="Text 4"/>
          <p:cNvSpPr txBox="1"/>
          <p:nvPr/>
        </p:nvSpPr>
        <p:spPr>
          <a:xfrm>
            <a:off x="8092440" y="3886200"/>
            <a:ext cx="3383280" cy="214884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What we found: </a:t>
            </a:r>
            <a:pPr indent="0" marL="0">
              <a:spcAft>
                <a:spcPts val="500"/>
              </a:spcAft>
              <a:buNone/>
            </a:pPr>
            <a:r>
              <a:rPr lang="en-US" sz="1150" dirty="0">
                <a:solidFill>
                  <a:schemeClr val="tx1"/>
                </a:solidFill>
              </a:rPr>
              <a:t>Olmo 3 7B Instruct picked the wrong hinted answer 10% of the time, and never without the hint. Its thinking twin: 2%. The larger models: never.</a:t>
            </a:r>
            <a:endParaRPr lang="en-US" sz="1150" dirty="0"/>
          </a:p>
          <a:p>
            <a:pPr indent="0" marL="0">
              <a:spcAft>
                <a:spcPts val="500"/>
              </a:spcAft>
              <a:buNone/>
            </a:pPr>
            <a:r>
              <a:rPr lang="en-US" sz="1150" b="1" dirty="0">
                <a:solidFill>
                  <a:schemeClr val="tx1"/>
                </a:solidFill>
              </a:rPr>
              <a:t>Limits: </a:t>
            </a:r>
            <a:pPr indent="0" marL="0">
              <a:spcAft>
                <a:spcPts val="500"/>
              </a:spcAft>
              <a:buNone/>
            </a:pPr>
            <a:r>
              <a:rPr lang="en-US" sz="1150" dirty="0">
                <a:solidFill>
                  <a:schemeClr val="tx1"/>
                </a:solidFill>
              </a:rPr>
              <a:t>one kind of puzzle, 24 puzzles. The larger models solve almost all of them, so a hint has little room to work. Run again with no hint, Olmo 3 7B Instruct changed its answer on 29% of puzzles, but never to the hinted letter.</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Result 2: thinking models see the hint, rarely mention it</a:t>
            </a:r>
            <a:endParaRPr lang="en-US" sz="3000" dirty="0"/>
          </a:p>
        </p:txBody>
      </p:sp>
      <p:graphicFrame>
        <p:nvGraphicFramePr>
          <p:cNvPr id="3" name="Chart 0" descr=""/>
          <p:cNvGraphicFramePr/>
          <p:nvPr/>
        </p:nvGraphicFramePr>
        <p:xfrm>
          <a:off x="548640" y="128016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r2-card"/>
          <p:cNvSpPr/>
          <p:nvPr/>
        </p:nvSpPr>
        <p:spPr>
          <a:xfrm>
            <a:off x="7863840" y="1280160"/>
            <a:ext cx="3749040" cy="4846320"/>
          </a:xfrm>
          <a:prstGeom prst="roundRect">
            <a:avLst>
              <a:gd name="adj" fmla="val 1951"/>
            </a:avLst>
          </a:prstGeom>
          <a:solidFill>
            <a:schemeClr val="bg2"/>
          </a:solidFill>
          <a:ln/>
        </p:spPr>
      </p:sp>
      <p:sp>
        <p:nvSpPr>
          <p:cNvPr id="5" name="r2-lock-circle"/>
          <p:cNvSpPr/>
          <p:nvPr/>
        </p:nvSpPr>
        <p:spPr>
          <a:xfrm>
            <a:off x="8092440" y="1508760"/>
            <a:ext cx="640080" cy="640080"/>
          </a:xfrm>
          <a:prstGeom prst="ellipse">
            <a:avLst/>
          </a:prstGeom>
          <a:solidFill>
            <a:schemeClr val="accent1">
              <a:alpha val="16000"/>
            </a:schemeClr>
          </a:solidFill>
          <a:ln/>
        </p:spPr>
      </p:sp>
      <p:pic>
        <p:nvPicPr>
          <p:cNvPr id="6" name="r2-lock-icon" descr="preencoded.png">    </p:cNvPr>
          <p:cNvPicPr>
            <a:picLocks noChangeAspect="1"/>
          </p:cNvPicPr>
          <p:nvPr/>
        </p:nvPicPr>
        <p:blipFill>
          <a:blip r:embed="rId2"/>
          <a:stretch>
            <a:fillRect/>
          </a:stretch>
        </p:blipFill>
        <p:spPr>
          <a:xfrm>
            <a:off x="8258861" y="1675181"/>
            <a:ext cx="307238" cy="307238"/>
          </a:xfrm>
          <a:prstGeom prst="rect">
            <a:avLst/>
          </a:prstGeom>
        </p:spPr>
      </p:pic>
      <p:sp>
        <p:nvSpPr>
          <p:cNvPr id="7" name="Text 3"/>
          <p:cNvSpPr txBox="1"/>
          <p:nvPr/>
        </p:nvSpPr>
        <p:spPr>
          <a:xfrm>
            <a:off x="8869680" y="1463040"/>
            <a:ext cx="2651760" cy="548640"/>
          </a:xfrm>
          <a:prstGeom prst="rect">
            <a:avLst/>
          </a:prstGeom>
          <a:noFill/>
          <a:ln/>
        </p:spPr>
        <p:txBody>
          <a:bodyPr wrap="square" lIns="0" tIns="0" rIns="0" bIns="0" rtlCol="0" anchor="ctr"/>
          <a:lstStyle/>
          <a:p>
            <a:pPr indent="0" marL="0">
              <a:buNone/>
            </a:pPr>
            <a:r>
              <a:rPr lang="en-US" sz="3000" b="1" dirty="0">
                <a:solidFill>
                  <a:schemeClr val="accent1"/>
                </a:solidFill>
              </a:rPr>
              <a:t>208 / 216</a:t>
            </a:r>
            <a:endParaRPr lang="en-US" sz="3000" dirty="0"/>
          </a:p>
        </p:txBody>
      </p:sp>
      <p:sp>
        <p:nvSpPr>
          <p:cNvPr id="8" name="Text 4"/>
          <p:cNvSpPr txBox="1"/>
          <p:nvPr/>
        </p:nvSpPr>
        <p:spPr>
          <a:xfrm>
            <a:off x="8869680" y="1965960"/>
            <a:ext cx="2651760" cy="320040"/>
          </a:xfrm>
          <a:prstGeom prst="rect">
            <a:avLst/>
          </a:prstGeom>
          <a:noFill/>
          <a:ln/>
        </p:spPr>
        <p:txBody>
          <a:bodyPr wrap="square" lIns="0" tIns="0" rIns="0" bIns="0" rtlCol="0" anchor="ctr"/>
          <a:lstStyle/>
          <a:p>
            <a:pPr indent="0" marL="0">
              <a:buNone/>
            </a:pPr>
            <a:r>
              <a:rPr lang="en-US" sz="1200" dirty="0">
                <a:solidFill>
                  <a:schemeClr val="tx1"/>
                </a:solidFill>
              </a:rPr>
              <a:t>times the private reasoning mentions it</a:t>
            </a:r>
            <a:endParaRPr lang="en-US" sz="1200" dirty="0"/>
          </a:p>
        </p:txBody>
      </p:sp>
      <p:sp>
        <p:nvSpPr>
          <p:cNvPr id="9" name="r2-eye-circle"/>
          <p:cNvSpPr/>
          <p:nvPr/>
        </p:nvSpPr>
        <p:spPr>
          <a:xfrm>
            <a:off x="8092440" y="2514600"/>
            <a:ext cx="640080" cy="640080"/>
          </a:xfrm>
          <a:prstGeom prst="ellipse">
            <a:avLst/>
          </a:prstGeom>
          <a:solidFill>
            <a:schemeClr val="accent2">
              <a:alpha val="16000"/>
            </a:schemeClr>
          </a:solidFill>
          <a:ln/>
        </p:spPr>
      </p:sp>
      <p:pic>
        <p:nvPicPr>
          <p:cNvPr id="10" name="r2-eye-icon" descr="preencoded.png">    </p:cNvPr>
          <p:cNvPicPr>
            <a:picLocks noChangeAspect="1"/>
          </p:cNvPicPr>
          <p:nvPr/>
        </p:nvPicPr>
        <p:blipFill>
          <a:blip r:embed="rId3"/>
          <a:stretch>
            <a:fillRect/>
          </a:stretch>
        </p:blipFill>
        <p:spPr>
          <a:xfrm>
            <a:off x="8258861" y="2681021"/>
            <a:ext cx="307238" cy="307238"/>
          </a:xfrm>
          <a:prstGeom prst="rect">
            <a:avLst/>
          </a:prstGeom>
        </p:spPr>
      </p:pic>
      <p:sp>
        <p:nvSpPr>
          <p:cNvPr id="11" name="Text 6"/>
          <p:cNvSpPr txBox="1"/>
          <p:nvPr/>
        </p:nvSpPr>
        <p:spPr>
          <a:xfrm>
            <a:off x="8869680" y="2468880"/>
            <a:ext cx="2651760" cy="548640"/>
          </a:xfrm>
          <a:prstGeom prst="rect">
            <a:avLst/>
          </a:prstGeom>
          <a:noFill/>
          <a:ln/>
        </p:spPr>
        <p:txBody>
          <a:bodyPr wrap="square" lIns="0" tIns="0" rIns="0" bIns="0" rtlCol="0" anchor="ctr"/>
          <a:lstStyle/>
          <a:p>
            <a:pPr indent="0" marL="0">
              <a:buNone/>
            </a:pPr>
            <a:r>
              <a:rPr lang="en-US" sz="3000" b="1" dirty="0">
                <a:solidFill>
                  <a:schemeClr val="accent2"/>
                </a:solidFill>
              </a:rPr>
              <a:t>8 / 216</a:t>
            </a:r>
            <a:endParaRPr lang="en-US" sz="3000" dirty="0"/>
          </a:p>
        </p:txBody>
      </p:sp>
      <p:sp>
        <p:nvSpPr>
          <p:cNvPr id="12" name="Text 7"/>
          <p:cNvSpPr txBox="1"/>
          <p:nvPr/>
        </p:nvSpPr>
        <p:spPr>
          <a:xfrm>
            <a:off x="8869680" y="2971800"/>
            <a:ext cx="2651760" cy="320040"/>
          </a:xfrm>
          <a:prstGeom prst="rect">
            <a:avLst/>
          </a:prstGeom>
          <a:noFill/>
          <a:ln/>
        </p:spPr>
        <p:txBody>
          <a:bodyPr wrap="square" lIns="0" tIns="0" rIns="0" bIns="0" rtlCol="0" anchor="ctr"/>
          <a:lstStyle/>
          <a:p>
            <a:pPr indent="0" marL="0">
              <a:buNone/>
            </a:pPr>
            <a:r>
              <a:rPr lang="en-US" sz="1200" dirty="0">
                <a:solidFill>
                  <a:schemeClr val="tx1"/>
                </a:solidFill>
              </a:rPr>
              <a:t>times the final answer mentions it</a:t>
            </a:r>
            <a:endParaRPr lang="en-US" sz="1200" dirty="0"/>
          </a:p>
        </p:txBody>
      </p:sp>
      <p:sp>
        <p:nvSpPr>
          <p:cNvPr id="13" name="Text 8"/>
          <p:cNvSpPr txBox="1"/>
          <p:nvPr/>
        </p:nvSpPr>
        <p:spPr>
          <a:xfrm>
            <a:off x="8092440" y="3474720"/>
            <a:ext cx="3383280" cy="2606040"/>
          </a:xfrm>
          <a:prstGeom prst="rect">
            <a:avLst/>
          </a:prstGeom>
          <a:noFill/>
          <a:ln/>
        </p:spPr>
        <p:txBody>
          <a:bodyPr wrap="square" lIns="0" tIns="0" rIns="0" bIns="0" rtlCol="0" anchor="t"/>
          <a:lstStyle/>
          <a:p>
            <a:pPr indent="0" marL="0">
              <a:spcAft>
                <a:spcPts val="500"/>
              </a:spcAft>
              <a:buNone/>
            </a:pPr>
            <a:r>
              <a:rPr lang="en-US" sz="1150" b="1" dirty="0">
                <a:solidFill>
                  <a:schemeClr val="tx1"/>
                </a:solidFill>
              </a:rPr>
              <a:t>Compare regular models: </a:t>
            </a:r>
            <a:pPr indent="0" marL="0">
              <a:spcAft>
                <a:spcPts val="500"/>
              </a:spcAft>
              <a:buNone/>
            </a:pPr>
            <a:r>
              <a:rPr lang="en-US" sz="1150" dirty="0">
                <a:solidFill>
                  <a:schemeClr val="tx1"/>
                </a:solidFill>
              </a:rPr>
              <a:t>Olmo’s regular models mention the hint in 56 of 144 replies; its thinking models, 0 of 144. For Qwen it’s 6 vs 8 out of 72, about the same.</a:t>
            </a:r>
            <a:endParaRPr lang="en-US" sz="1150" dirty="0"/>
          </a:p>
          <a:p>
            <a:pPr indent="0" marL="0">
              <a:spcAft>
                <a:spcPts val="500"/>
              </a:spcAft>
              <a:buNone/>
            </a:pPr>
            <a:r>
              <a:rPr lang="en-US" sz="1150" b="1" dirty="0">
                <a:solidFill>
                  <a:schemeClr val="tx1"/>
                </a:solidFill>
              </a:rPr>
              <a:t>Mentioning isn’t admitting: </a:t>
            </a:r>
            <a:pPr indent="0" marL="0">
              <a:spcAft>
                <a:spcPts val="500"/>
              </a:spcAft>
              <a:buNone/>
            </a:pPr>
            <a:r>
              <a:rPr lang="en-US" sz="1150" dirty="0">
                <a:solidFill>
                  <a:schemeClr val="tx1"/>
                </a:solidFill>
              </a:rPr>
              <a:t>the reasoning usually brushes the hint off (“the user thought C, but…”).</a:t>
            </a:r>
            <a:endParaRPr lang="en-US" sz="1150" dirty="0"/>
          </a:p>
          <a:p>
            <a:pPr indent="0" marL="0">
              <a:spcAft>
                <a:spcPts val="500"/>
              </a:spcAft>
              <a:buNone/>
            </a:pPr>
            <a:r>
              <a:rPr lang="en-US" sz="1150" b="1" dirty="0">
                <a:solidFill>
                  <a:schemeClr val="tx1"/>
                </a:solidFill>
              </a:rPr>
              <a:t>Limits: </a:t>
            </a:r>
            <a:pPr indent="0" marL="0">
              <a:spcAft>
                <a:spcPts val="500"/>
              </a:spcAft>
              <a:buNone/>
            </a:pPr>
            <a:r>
              <a:rPr lang="en-US" sz="1150" dirty="0">
                <a:solidFill>
                  <a:schemeClr val="tx1"/>
                </a:solidFill>
              </a:rPr>
              <a:t>we find mentions by keyword for now; hand labels come next. Leaving the hint out doesn’t prove a model is hiding something.</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Smaller findings that change our plan</a:t>
            </a:r>
            <a:endParaRPr lang="en-US" sz="3000" dirty="0"/>
          </a:p>
        </p:txBody>
      </p:sp>
      <p:sp>
        <p:nvSpPr>
          <p:cNvPr id="3" name="finding1"/>
          <p:cNvSpPr/>
          <p:nvPr/>
        </p:nvSpPr>
        <p:spPr>
          <a:xfrm>
            <a:off x="548640" y="1371600"/>
            <a:ext cx="5440680" cy="2240280"/>
          </a:xfrm>
          <a:prstGeom prst="roundRect">
            <a:avLst>
              <a:gd name="adj" fmla="val 3265"/>
            </a:avLst>
          </a:prstGeom>
          <a:solidFill>
            <a:schemeClr val="bg2"/>
          </a:solidFill>
          <a:ln/>
        </p:spPr>
      </p:sp>
      <p:sp>
        <p:nvSpPr>
          <p:cNvPr id="4" name="Text 2"/>
          <p:cNvSpPr txBox="1"/>
          <p:nvPr/>
        </p:nvSpPr>
        <p:spPr>
          <a:xfrm>
            <a:off x="822960" y="1645920"/>
            <a:ext cx="4892040" cy="868680"/>
          </a:xfrm>
          <a:prstGeom prst="rect">
            <a:avLst/>
          </a:prstGeom>
          <a:noFill/>
          <a:ln/>
        </p:spPr>
        <p:txBody>
          <a:bodyPr wrap="square" lIns="0" tIns="0" rIns="0" bIns="0" rtlCol="0" anchor="ctr"/>
          <a:lstStyle/>
          <a:p>
            <a:pPr indent="0" marL="0">
              <a:buNone/>
            </a:pPr>
            <a:r>
              <a:rPr lang="en-US" sz="4000" b="1" dirty="0">
                <a:solidFill>
                  <a:schemeClr val="accent2"/>
                </a:solidFill>
              </a:rPr>
              <a:t>5% to 59%</a:t>
            </a:r>
            <a:endParaRPr lang="en-US" sz="4000" dirty="0"/>
          </a:p>
        </p:txBody>
      </p:sp>
      <p:sp>
        <p:nvSpPr>
          <p:cNvPr id="5" name="Text 3"/>
          <p:cNvSpPr txBox="1"/>
          <p:nvPr/>
        </p:nvSpPr>
        <p:spPr>
          <a:xfrm>
            <a:off x="822960"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longer replies when there’s a hint, on all six models, even when the answer stays the same. The hint costs extra work.</a:t>
            </a:r>
            <a:endParaRPr lang="en-US" sz="1400" dirty="0"/>
          </a:p>
        </p:txBody>
      </p:sp>
      <p:sp>
        <p:nvSpPr>
          <p:cNvPr id="6" name="finding2"/>
          <p:cNvSpPr/>
          <p:nvPr/>
        </p:nvSpPr>
        <p:spPr>
          <a:xfrm>
            <a:off x="6172200" y="1371600"/>
            <a:ext cx="5440680" cy="2240280"/>
          </a:xfrm>
          <a:prstGeom prst="roundRect">
            <a:avLst>
              <a:gd name="adj" fmla="val 3265"/>
            </a:avLst>
          </a:prstGeom>
          <a:solidFill>
            <a:schemeClr val="bg2"/>
          </a:solidFill>
          <a:ln/>
        </p:spPr>
      </p:sp>
      <p:sp>
        <p:nvSpPr>
          <p:cNvPr id="7" name="Text 5"/>
          <p:cNvSpPr txBox="1"/>
          <p:nvPr/>
        </p:nvSpPr>
        <p:spPr>
          <a:xfrm>
            <a:off x="6446520" y="1645920"/>
            <a:ext cx="4892040" cy="868680"/>
          </a:xfrm>
          <a:prstGeom prst="rect">
            <a:avLst/>
          </a:prstGeom>
          <a:noFill/>
          <a:ln/>
        </p:spPr>
        <p:txBody>
          <a:bodyPr wrap="square" lIns="0" tIns="0" rIns="0" bIns="0" rtlCol="0" anchor="ctr"/>
          <a:lstStyle/>
          <a:p>
            <a:pPr indent="0" marL="0">
              <a:buNone/>
            </a:pPr>
            <a:r>
              <a:rPr lang="en-US" sz="4000" b="1" dirty="0">
                <a:solidFill>
                  <a:schemeClr val="accent1"/>
                </a:solidFill>
              </a:rPr>
              <a:t>88% to 96%</a:t>
            </a:r>
            <a:endParaRPr lang="en-US" sz="4000" dirty="0"/>
          </a:p>
        </p:txBody>
      </p:sp>
      <p:sp>
        <p:nvSpPr>
          <p:cNvPr id="8" name="Text 6"/>
          <p:cNvSpPr txBox="1"/>
          <p:nvPr/>
        </p:nvSpPr>
        <p:spPr>
          <a:xfrm>
            <a:off x="6446520"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of the time, thinking models told “answer only, don’t explain” still reasoned in private and stayed accurate. Regular models dropped from 100% to 8% and from 88% to 4% correct.</a:t>
            </a:r>
            <a:endParaRPr lang="en-US" sz="1400" dirty="0"/>
          </a:p>
        </p:txBody>
      </p:sp>
      <p:sp>
        <p:nvSpPr>
          <p:cNvPr id="9" name="finding3"/>
          <p:cNvSpPr/>
          <p:nvPr/>
        </p:nvSpPr>
        <p:spPr>
          <a:xfrm>
            <a:off x="548640" y="3794760"/>
            <a:ext cx="5440680" cy="2240280"/>
          </a:xfrm>
          <a:prstGeom prst="roundRect">
            <a:avLst>
              <a:gd name="adj" fmla="val 3265"/>
            </a:avLst>
          </a:prstGeom>
          <a:solidFill>
            <a:schemeClr val="bg2"/>
          </a:solidFill>
          <a:ln/>
        </p:spPr>
      </p:sp>
      <p:sp>
        <p:nvSpPr>
          <p:cNvPr id="10" name="Text 8"/>
          <p:cNvSpPr txBox="1"/>
          <p:nvPr/>
        </p:nvSpPr>
        <p:spPr>
          <a:xfrm>
            <a:off x="822960" y="4069080"/>
            <a:ext cx="4892040" cy="868680"/>
          </a:xfrm>
          <a:prstGeom prst="rect">
            <a:avLst/>
          </a:prstGeom>
          <a:noFill/>
          <a:ln/>
        </p:spPr>
        <p:txBody>
          <a:bodyPr wrap="square" lIns="0" tIns="0" rIns="0" bIns="0" rtlCol="0" anchor="ctr"/>
          <a:lstStyle/>
          <a:p>
            <a:pPr indent="0" marL="0">
              <a:buNone/>
            </a:pPr>
            <a:r>
              <a:rPr lang="en-US" sz="4000" b="1" dirty="0">
                <a:solidFill>
                  <a:schemeClr val="accent2"/>
                </a:solidFill>
              </a:rPr>
              <a:t>10 / 10</a:t>
            </a:r>
            <a:endParaRPr lang="en-US" sz="4000" dirty="0"/>
          </a:p>
        </p:txBody>
      </p:sp>
      <p:sp>
        <p:nvSpPr>
          <p:cNvPr id="11" name="Text 9"/>
          <p:cNvSpPr txBox="1"/>
          <p:nvPr/>
        </p:nvSpPr>
        <p:spPr>
          <a:xfrm>
            <a:off x="822960" y="4983480"/>
            <a:ext cx="4892040" cy="868680"/>
          </a:xfrm>
          <a:prstGeom prst="rect">
            <a:avLst/>
          </a:prstGeom>
          <a:noFill/>
          <a:ln/>
        </p:spPr>
        <p:txBody>
          <a:bodyPr wrap="square" lIns="0" tIns="0" rIns="0" bIns="0" rtlCol="0" anchor="t"/>
          <a:lstStyle/>
          <a:p>
            <a:pPr indent="0" marL="0">
              <a:buNone/>
            </a:pPr>
            <a:r>
              <a:rPr lang="en-US" sz="1400" dirty="0">
                <a:solidFill>
                  <a:schemeClr val="tx1"/>
                </a:solidFill>
              </a:rPr>
              <a:t>replies that hit the length limit spilled the private reasoning into the visible answer (about 27,000 characters).</a:t>
            </a:r>
            <a:endParaRPr lang="en-US" sz="1400" dirty="0"/>
          </a:p>
        </p:txBody>
      </p:sp>
      <p:sp>
        <p:nvSpPr>
          <p:cNvPr id="12" name="finding4"/>
          <p:cNvSpPr/>
          <p:nvPr/>
        </p:nvSpPr>
        <p:spPr>
          <a:xfrm>
            <a:off x="6172200" y="3794760"/>
            <a:ext cx="5440680" cy="2240280"/>
          </a:xfrm>
          <a:prstGeom prst="roundRect">
            <a:avLst>
              <a:gd name="adj" fmla="val 3265"/>
            </a:avLst>
          </a:prstGeom>
          <a:solidFill>
            <a:schemeClr val="bg2"/>
          </a:solidFill>
          <a:ln/>
        </p:spPr>
      </p:sp>
      <p:sp>
        <p:nvSpPr>
          <p:cNvPr id="13" name="Text 11"/>
          <p:cNvSpPr txBox="1"/>
          <p:nvPr/>
        </p:nvSpPr>
        <p:spPr>
          <a:xfrm>
            <a:off x="6446520" y="4069080"/>
            <a:ext cx="4892040" cy="868680"/>
          </a:xfrm>
          <a:prstGeom prst="rect">
            <a:avLst/>
          </a:prstGeom>
          <a:noFill/>
          <a:ln/>
        </p:spPr>
        <p:txBody>
          <a:bodyPr wrap="square" lIns="0" tIns="0" rIns="0" bIns="0" rtlCol="0" anchor="ctr"/>
          <a:lstStyle/>
          <a:p>
            <a:pPr indent="0" marL="0">
              <a:buNone/>
            </a:pPr>
            <a:r>
              <a:rPr lang="en-US" sz="4000" b="1" dirty="0">
                <a:solidFill>
                  <a:schemeClr val="accent1"/>
                </a:solidFill>
              </a:rPr>
              <a:t>30% to 48%</a:t>
            </a:r>
            <a:endParaRPr lang="en-US" sz="4000" dirty="0"/>
          </a:p>
        </p:txBody>
      </p:sp>
      <p:sp>
        <p:nvSpPr>
          <p:cNvPr id="14" name="Text 12"/>
          <p:cNvSpPr txBox="1"/>
          <p:nvPr/>
        </p:nvSpPr>
        <p:spPr>
          <a:xfrm>
            <a:off x="6446520" y="4983480"/>
            <a:ext cx="4892040" cy="868680"/>
          </a:xfrm>
          <a:prstGeom prst="rect">
            <a:avLst/>
          </a:prstGeom>
          <a:noFill/>
          <a:ln/>
        </p:spPr>
        <p:txBody>
          <a:bodyPr wrap="square" lIns="0" tIns="0" rIns="0" bIns="0" rtlCol="0" anchor="t"/>
          <a:lstStyle/>
          <a:p>
            <a:pPr indent="0" marL="0">
              <a:buNone/>
            </a:pPr>
            <a:r>
              <a:rPr lang="en-US" sz="1400" dirty="0">
                <a:solidFill>
                  <a:schemeClr val="tx1"/>
                </a:solidFill>
              </a:rPr>
              <a:t>shorter reasoning when we ask the same model to “think briefly”. This lets us vary thinking without switching models.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Risks and how we’re handling them</a:t>
            </a:r>
            <a:endParaRPr lang="en-US" sz="3000" dirty="0"/>
          </a:p>
        </p:txBody>
      </p:sp>
      <p:sp>
        <p:nvSpPr>
          <p:cNvPr id="3" name="risk1-circle"/>
          <p:cNvSpPr/>
          <p:nvPr/>
        </p:nvSpPr>
        <p:spPr>
          <a:xfrm>
            <a:off x="548640" y="1371600"/>
            <a:ext cx="777240" cy="777240"/>
          </a:xfrm>
          <a:prstGeom prst="ellipse">
            <a:avLst/>
          </a:prstGeom>
          <a:solidFill>
            <a:schemeClr val="accent2">
              <a:alpha val="16000"/>
            </a:schemeClr>
          </a:solidFill>
          <a:ln/>
        </p:spPr>
      </p:sp>
      <p:pic>
        <p:nvPicPr>
          <p:cNvPr id="4" name="risk1-icon" descr="preencoded.png">    </p:cNvPr>
          <p:cNvPicPr>
            <a:picLocks noChangeAspect="1"/>
          </p:cNvPicPr>
          <p:nvPr/>
        </p:nvPicPr>
        <p:blipFill>
          <a:blip r:embed="rId1"/>
          <a:stretch>
            <a:fillRect/>
          </a:stretch>
        </p:blipFill>
        <p:spPr>
          <a:xfrm>
            <a:off x="750722" y="1573682"/>
            <a:ext cx="373075" cy="373075"/>
          </a:xfrm>
          <a:prstGeom prst="rect">
            <a:avLst/>
          </a:prstGeom>
        </p:spPr>
      </p:pic>
      <p:sp>
        <p:nvSpPr>
          <p:cNvPr id="5" name="Text 2"/>
          <p:cNvSpPr txBox="1"/>
          <p:nvPr/>
        </p:nvSpPr>
        <p:spPr>
          <a:xfrm>
            <a:off x="1554480" y="1325880"/>
            <a:ext cx="9966960" cy="384048"/>
          </a:xfrm>
          <a:prstGeom prst="rect">
            <a:avLst/>
          </a:prstGeom>
          <a:noFill/>
          <a:ln/>
        </p:spPr>
        <p:txBody>
          <a:bodyPr wrap="square" lIns="0" tIns="0" rIns="0" bIns="0" rtlCol="0" anchor="ctr"/>
          <a:lstStyle/>
          <a:p>
            <a:pPr indent="0" marL="0">
              <a:buNone/>
            </a:pPr>
            <a:r>
              <a:rPr lang="en-US" sz="1600" b="1" dirty="0">
                <a:solidFill>
                  <a:schemeClr val="tx1"/>
                </a:solidFill>
              </a:rPr>
              <a:t>We can’t turn thinking off on Voyager</a:t>
            </a:r>
            <a:endParaRPr lang="en-US" sz="1600" dirty="0"/>
          </a:p>
        </p:txBody>
      </p:sp>
      <p:sp>
        <p:nvSpPr>
          <p:cNvPr id="6" name="Text 3"/>
          <p:cNvSpPr txBox="1"/>
          <p:nvPr/>
        </p:nvSpPr>
        <p:spPr>
          <a:xfrm>
            <a:off x="1554480" y="1719072"/>
            <a:ext cx="9966960" cy="731520"/>
          </a:xfrm>
          <a:prstGeom prst="rect">
            <a:avLst/>
          </a:prstGeom>
          <a:noFill/>
          <a:ln/>
        </p:spPr>
        <p:txBody>
          <a:bodyPr wrap="square" lIns="0" tIns="0" rIns="0" bIns="0" rtlCol="0" anchor="t"/>
          <a:lstStyle/>
          <a:p>
            <a:pPr indent="0" marL="0">
              <a:buNone/>
            </a:pPr>
            <a:r>
              <a:rPr lang="en-US" sz="1300" dirty="0">
                <a:solidFill>
                  <a:schemeClr val="accent5"/>
                </a:solidFill>
              </a:rPr>
              <a:t>We tried it on 7 models and the setting is ignored. So we treat each pair as two different models, ask the same model to “think briefly”, and may run models ourselves on ASU’s Sol computers if we get GPU time.</a:t>
            </a:r>
            <a:endParaRPr lang="en-US" sz="1300" dirty="0"/>
          </a:p>
        </p:txBody>
      </p:sp>
      <p:sp>
        <p:nvSpPr>
          <p:cNvPr id="7" name="risk2-circle"/>
          <p:cNvSpPr/>
          <p:nvPr/>
        </p:nvSpPr>
        <p:spPr>
          <a:xfrm>
            <a:off x="548640" y="2606040"/>
            <a:ext cx="777240" cy="777240"/>
          </a:xfrm>
          <a:prstGeom prst="ellipse">
            <a:avLst/>
          </a:prstGeom>
          <a:solidFill>
            <a:schemeClr val="accent1">
              <a:alpha val="16000"/>
            </a:schemeClr>
          </a:solidFill>
          <a:ln/>
        </p:spPr>
      </p:sp>
      <p:pic>
        <p:nvPicPr>
          <p:cNvPr id="8" name="risk2-icon" descr="preencoded.png">    </p:cNvPr>
          <p:cNvPicPr>
            <a:picLocks noChangeAspect="1"/>
          </p:cNvPicPr>
          <p:nvPr/>
        </p:nvPicPr>
        <p:blipFill>
          <a:blip r:embed="rId2"/>
          <a:stretch>
            <a:fillRect/>
          </a:stretch>
        </p:blipFill>
        <p:spPr>
          <a:xfrm>
            <a:off x="750722" y="2808122"/>
            <a:ext cx="373075" cy="373075"/>
          </a:xfrm>
          <a:prstGeom prst="rect">
            <a:avLst/>
          </a:prstGeom>
        </p:spPr>
      </p:pic>
      <p:sp>
        <p:nvSpPr>
          <p:cNvPr id="9" name="Text 5"/>
          <p:cNvSpPr txBox="1"/>
          <p:nvPr/>
        </p:nvSpPr>
        <p:spPr>
          <a:xfrm>
            <a:off x="1554480" y="2560320"/>
            <a:ext cx="9966960" cy="384048"/>
          </a:xfrm>
          <a:prstGeom prst="rect">
            <a:avLst/>
          </a:prstGeom>
          <a:noFill/>
          <a:ln/>
        </p:spPr>
        <p:txBody>
          <a:bodyPr wrap="square" lIns="0" tIns="0" rIns="0" bIns="0" rtlCol="0" anchor="ctr"/>
          <a:lstStyle/>
          <a:p>
            <a:pPr indent="0" marL="0">
              <a:buNone/>
            </a:pPr>
            <a:r>
              <a:rPr lang="en-US" sz="1600" b="1" dirty="0">
                <a:solidFill>
                  <a:schemeClr val="tx1"/>
                </a:solidFill>
              </a:rPr>
              <a:t>The hint only moves the smallest model on these puzzles</a:t>
            </a:r>
            <a:endParaRPr lang="en-US" sz="1600" dirty="0"/>
          </a:p>
        </p:txBody>
      </p:sp>
      <p:sp>
        <p:nvSpPr>
          <p:cNvPr id="10" name="Text 6"/>
          <p:cNvSpPr txBox="1"/>
          <p:nvPr/>
        </p:nvSpPr>
        <p:spPr>
          <a:xfrm>
            <a:off x="1554480" y="2953512"/>
            <a:ext cx="9966960" cy="731520"/>
          </a:xfrm>
          <a:prstGeom prst="rect">
            <a:avLst/>
          </a:prstGeom>
          <a:noFill/>
          <a:ln/>
        </p:spPr>
        <p:txBody>
          <a:bodyPr wrap="square" lIns="0" tIns="0" rIns="0" bIns="0" rtlCol="0" anchor="t"/>
          <a:lstStyle/>
          <a:p>
            <a:pPr indent="0" marL="0">
              <a:buNone/>
            </a:pPr>
            <a:r>
              <a:rPr lang="en-US" sz="1300" dirty="0">
                <a:solidFill>
                  <a:schemeClr val="accent5"/>
                </a:solidFill>
              </a:rPr>
              <a:t>We’ll add questions where hints have more room: ambiguous questions about people (BBQ) and harder reasoning tasks (BBH). If hints still do little, that is a real result too.</a:t>
            </a:r>
            <a:endParaRPr lang="en-US" sz="1300" dirty="0"/>
          </a:p>
        </p:txBody>
      </p:sp>
      <p:sp>
        <p:nvSpPr>
          <p:cNvPr id="11" name="risk3-circle"/>
          <p:cNvSpPr/>
          <p:nvPr/>
        </p:nvSpPr>
        <p:spPr>
          <a:xfrm>
            <a:off x="548640" y="3840480"/>
            <a:ext cx="777240" cy="777240"/>
          </a:xfrm>
          <a:prstGeom prst="ellipse">
            <a:avLst/>
          </a:prstGeom>
          <a:solidFill>
            <a:schemeClr val="accent2">
              <a:alpha val="16000"/>
            </a:schemeClr>
          </a:solidFill>
          <a:ln/>
        </p:spPr>
      </p:sp>
      <p:pic>
        <p:nvPicPr>
          <p:cNvPr id="12" name="risk3-icon" descr="preencoded.png">    </p:cNvPr>
          <p:cNvPicPr>
            <a:picLocks noChangeAspect="1"/>
          </p:cNvPicPr>
          <p:nvPr/>
        </p:nvPicPr>
        <p:blipFill>
          <a:blip r:embed="rId3"/>
          <a:stretch>
            <a:fillRect/>
          </a:stretch>
        </p:blipFill>
        <p:spPr>
          <a:xfrm>
            <a:off x="750722" y="4042562"/>
            <a:ext cx="373075" cy="373075"/>
          </a:xfrm>
          <a:prstGeom prst="rect">
            <a:avLst/>
          </a:prstGeom>
        </p:spPr>
      </p:pic>
      <p:sp>
        <p:nvSpPr>
          <p:cNvPr id="13" name="Text 8"/>
          <p:cNvSpPr txBox="1"/>
          <p:nvPr/>
        </p:nvSpPr>
        <p:spPr>
          <a:xfrm>
            <a:off x="1554480" y="3794760"/>
            <a:ext cx="9966960" cy="384048"/>
          </a:xfrm>
          <a:prstGeom prst="rect">
            <a:avLst/>
          </a:prstGeom>
          <a:noFill/>
          <a:ln/>
        </p:spPr>
        <p:txBody>
          <a:bodyPr wrap="square" lIns="0" tIns="0" rIns="0" bIns="0" rtlCol="0" anchor="ctr"/>
          <a:lstStyle/>
          <a:p>
            <a:pPr indent="0" marL="0">
              <a:buNone/>
            </a:pPr>
            <a:r>
              <a:rPr lang="en-US" sz="1600" b="1" dirty="0">
                <a:solidFill>
                  <a:schemeClr val="tx1"/>
                </a:solidFill>
              </a:rPr>
              <a:t>Keyword search can’t tell a mention from an admission</a:t>
            </a:r>
            <a:endParaRPr lang="en-US" sz="1600" dirty="0"/>
          </a:p>
        </p:txBody>
      </p:sp>
      <p:sp>
        <p:nvSpPr>
          <p:cNvPr id="14" name="Text 9"/>
          <p:cNvSpPr txBox="1"/>
          <p:nvPr/>
        </p:nvSpPr>
        <p:spPr>
          <a:xfrm>
            <a:off x="1554480" y="4187952"/>
            <a:ext cx="9966960" cy="731520"/>
          </a:xfrm>
          <a:prstGeom prst="rect">
            <a:avLst/>
          </a:prstGeom>
          <a:noFill/>
          <a:ln/>
        </p:spPr>
        <p:txBody>
          <a:bodyPr wrap="square" lIns="0" tIns="0" rIns="0" bIns="0" rtlCol="0" anchor="t"/>
          <a:lstStyle/>
          <a:p>
            <a:pPr indent="0" marL="0">
              <a:buNone/>
            </a:pPr>
            <a:r>
              <a:rPr lang="en-US" sz="1300" dirty="0">
                <a:solidFill>
                  <a:schemeClr val="accent5"/>
                </a:solidFill>
              </a:rPr>
              <a:t>Two of us will hand-label 200 replies as: no mention, mentions the hint, or says the hint changed its answer. We’ll report how often we agree.</a:t>
            </a:r>
            <a:endParaRPr lang="en-US" sz="1300" dirty="0"/>
          </a:p>
        </p:txBody>
      </p:sp>
      <p:sp>
        <p:nvSpPr>
          <p:cNvPr id="15" name="risk4-circle"/>
          <p:cNvSpPr/>
          <p:nvPr/>
        </p:nvSpPr>
        <p:spPr>
          <a:xfrm>
            <a:off x="548640" y="5074920"/>
            <a:ext cx="777240" cy="777240"/>
          </a:xfrm>
          <a:prstGeom prst="ellipse">
            <a:avLst/>
          </a:prstGeom>
          <a:solidFill>
            <a:schemeClr val="accent1">
              <a:alpha val="16000"/>
            </a:schemeClr>
          </a:solidFill>
          <a:ln/>
        </p:spPr>
      </p:sp>
      <p:pic>
        <p:nvPicPr>
          <p:cNvPr id="16" name="risk4-icon" descr="preencoded.png">    </p:cNvPr>
          <p:cNvPicPr>
            <a:picLocks noChangeAspect="1"/>
          </p:cNvPicPr>
          <p:nvPr/>
        </p:nvPicPr>
        <p:blipFill>
          <a:blip r:embed="rId4"/>
          <a:stretch>
            <a:fillRect/>
          </a:stretch>
        </p:blipFill>
        <p:spPr>
          <a:xfrm>
            <a:off x="750722" y="5277002"/>
            <a:ext cx="373075" cy="373075"/>
          </a:xfrm>
          <a:prstGeom prst="rect">
            <a:avLst/>
          </a:prstGeom>
        </p:spPr>
      </p:pic>
      <p:sp>
        <p:nvSpPr>
          <p:cNvPr id="17" name="Text 11"/>
          <p:cNvSpPr txBox="1"/>
          <p:nvPr/>
        </p:nvSpPr>
        <p:spPr>
          <a:xfrm>
            <a:off x="1554480" y="5029200"/>
            <a:ext cx="9966960" cy="384048"/>
          </a:xfrm>
          <a:prstGeom prst="rect">
            <a:avLst/>
          </a:prstGeom>
          <a:noFill/>
          <a:ln/>
        </p:spPr>
        <p:txBody>
          <a:bodyPr wrap="square" lIns="0" tIns="0" rIns="0" bIns="0" rtlCol="0" anchor="ctr"/>
          <a:lstStyle/>
          <a:p>
            <a:pPr indent="0" marL="0">
              <a:buNone/>
            </a:pPr>
            <a:r>
              <a:rPr lang="en-US" sz="1600" b="1" dirty="0">
                <a:solidFill>
                  <a:schemeClr val="tx1"/>
                </a:solidFill>
              </a:rPr>
              <a:t>Thinking models write 3.4 to 4.5 times as much</a:t>
            </a:r>
            <a:endParaRPr lang="en-US" sz="1600" dirty="0"/>
          </a:p>
        </p:txBody>
      </p:sp>
      <p:sp>
        <p:nvSpPr>
          <p:cNvPr id="18" name="Text 12"/>
          <p:cNvSpPr txBox="1"/>
          <p:nvPr/>
        </p:nvSpPr>
        <p:spPr>
          <a:xfrm>
            <a:off x="1554480" y="5422392"/>
            <a:ext cx="9966960" cy="731520"/>
          </a:xfrm>
          <a:prstGeom prst="rect">
            <a:avLst/>
          </a:prstGeom>
          <a:noFill/>
          <a:ln/>
        </p:spPr>
        <p:txBody>
          <a:bodyPr wrap="square" lIns="0" tIns="0" rIns="0" bIns="0" rtlCol="0" anchor="t"/>
          <a:lstStyle/>
          <a:p>
            <a:pPr indent="0" marL="0">
              <a:buNone/>
            </a:pPr>
            <a:r>
              <a:rPr lang="en-US" sz="1300" dirty="0">
                <a:solidFill>
                  <a:schemeClr val="accent5"/>
                </a:solidFill>
              </a:rPr>
              <a:t>Our full proposal would need about 180 million tokens (word pieces) of output. We’ll cut that to about 55 million, time a small run first, and keep getting replies in pieces so long ones don’t time out.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Next steps</a:t>
            </a:r>
            <a:endParaRPr lang="en-US" sz="3000" dirty="0"/>
          </a:p>
        </p:txBody>
      </p:sp>
      <p:sp>
        <p:nvSpPr>
          <p:cNvPr id="3" name="chev1"/>
          <p:cNvSpPr/>
          <p:nvPr/>
        </p:nvSpPr>
        <p:spPr>
          <a:xfrm>
            <a:off x="548640" y="1463040"/>
            <a:ext cx="2286000" cy="822960"/>
          </a:xfrm>
          <a:prstGeom prst="chevron">
            <a:avLst/>
          </a:prstGeom>
          <a:solidFill>
            <a:schemeClr val="accent1">
              <a:alpha val="85000"/>
            </a:schemeClr>
          </a:solidFill>
          <a:ln/>
        </p:spPr>
      </p:sp>
      <p:sp>
        <p:nvSpPr>
          <p:cNvPr id="4" name="Text 2"/>
          <p:cNvSpPr txBox="1"/>
          <p:nvPr/>
        </p:nvSpPr>
        <p:spPr>
          <a:xfrm>
            <a:off x="86868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 9</a:t>
            </a:r>
            <a:endParaRPr lang="en-US" sz="1500" dirty="0"/>
          </a:p>
        </p:txBody>
      </p:sp>
      <p:sp>
        <p:nvSpPr>
          <p:cNvPr id="5" name="Text 3"/>
          <p:cNvSpPr txBox="1"/>
          <p:nvPr/>
        </p:nvSpPr>
        <p:spPr>
          <a:xfrm>
            <a:off x="640080" y="2423160"/>
            <a:ext cx="2011680" cy="1188720"/>
          </a:xfrm>
          <a:prstGeom prst="rect">
            <a:avLst/>
          </a:prstGeom>
          <a:noFill/>
          <a:ln/>
        </p:spPr>
        <p:txBody>
          <a:bodyPr wrap="square" lIns="0" tIns="0" rIns="0" bIns="0" rtlCol="0" anchor="t"/>
          <a:lstStyle/>
          <a:p>
            <a:pPr algn="ctr" indent="0" marL="0">
              <a:buNone/>
            </a:pPr>
            <a:r>
              <a:rPr lang="en-US" sz="1300" dirty="0">
                <a:solidFill>
                  <a:schemeClr val="tx1"/>
                </a:solidFill>
              </a:rPr>
              <a:t>Add BBQ and BBH questions, time a test run, lock the prompts</a:t>
            </a:r>
            <a:endParaRPr lang="en-US" sz="1300" dirty="0"/>
          </a:p>
        </p:txBody>
      </p:sp>
      <p:sp>
        <p:nvSpPr>
          <p:cNvPr id="6" name="chev2"/>
          <p:cNvSpPr/>
          <p:nvPr/>
        </p:nvSpPr>
        <p:spPr>
          <a:xfrm>
            <a:off x="2743200" y="1463040"/>
            <a:ext cx="2286000" cy="822960"/>
          </a:xfrm>
          <a:prstGeom prst="chevron">
            <a:avLst/>
          </a:prstGeom>
          <a:solidFill>
            <a:schemeClr val="accent2">
              <a:alpha val="85000"/>
            </a:schemeClr>
          </a:solidFill>
          <a:ln/>
        </p:spPr>
      </p:sp>
      <p:sp>
        <p:nvSpPr>
          <p:cNvPr id="7" name="Text 5"/>
          <p:cNvSpPr txBox="1"/>
          <p:nvPr/>
        </p:nvSpPr>
        <p:spPr>
          <a:xfrm>
            <a:off x="306324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10-11</a:t>
            </a:r>
            <a:endParaRPr lang="en-US" sz="1500" dirty="0"/>
          </a:p>
        </p:txBody>
      </p:sp>
      <p:sp>
        <p:nvSpPr>
          <p:cNvPr id="8" name="Text 6"/>
          <p:cNvSpPr txBox="1"/>
          <p:nvPr/>
        </p:nvSpPr>
        <p:spPr>
          <a:xfrm>
            <a:off x="2834640" y="2423160"/>
            <a:ext cx="2011680" cy="1188720"/>
          </a:xfrm>
          <a:prstGeom prst="rect">
            <a:avLst/>
          </a:prstGeom>
          <a:noFill/>
          <a:ln/>
        </p:spPr>
        <p:txBody>
          <a:bodyPr wrap="square" lIns="0" tIns="0" rIns="0" bIns="0" rtlCol="0" anchor="t"/>
          <a:lstStyle/>
          <a:p>
            <a:pPr algn="ctr" indent="0" marL="0">
              <a:buNone/>
            </a:pPr>
            <a:r>
              <a:rPr lang="en-US" sz="1300" dirty="0">
                <a:solidFill>
                  <a:schemeClr val="tx1"/>
                </a:solidFill>
              </a:rPr>
              <a:t>Main runs, and hand-label 200 replies (2 people)</a:t>
            </a:r>
            <a:endParaRPr lang="en-US" sz="1300" dirty="0"/>
          </a:p>
        </p:txBody>
      </p:sp>
      <p:sp>
        <p:nvSpPr>
          <p:cNvPr id="9" name="chev3"/>
          <p:cNvSpPr/>
          <p:nvPr/>
        </p:nvSpPr>
        <p:spPr>
          <a:xfrm>
            <a:off x="4937760" y="1463040"/>
            <a:ext cx="2286000" cy="822960"/>
          </a:xfrm>
          <a:prstGeom prst="chevron">
            <a:avLst/>
          </a:prstGeom>
          <a:solidFill>
            <a:schemeClr val="accent1">
              <a:alpha val="85000"/>
            </a:schemeClr>
          </a:solidFill>
          <a:ln/>
        </p:spPr>
      </p:sp>
      <p:sp>
        <p:nvSpPr>
          <p:cNvPr id="10" name="Text 8"/>
          <p:cNvSpPr txBox="1"/>
          <p:nvPr/>
        </p:nvSpPr>
        <p:spPr>
          <a:xfrm>
            <a:off x="525780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12-13</a:t>
            </a:r>
            <a:endParaRPr lang="en-US" sz="1500" dirty="0"/>
          </a:p>
        </p:txBody>
      </p:sp>
      <p:sp>
        <p:nvSpPr>
          <p:cNvPr id="11" name="Text 9"/>
          <p:cNvSpPr txBox="1"/>
          <p:nvPr/>
        </p:nvSpPr>
        <p:spPr>
          <a:xfrm>
            <a:off x="5029200" y="2423160"/>
            <a:ext cx="2011680" cy="1188720"/>
          </a:xfrm>
          <a:prstGeom prst="rect">
            <a:avLst/>
          </a:prstGeom>
          <a:noFill/>
          <a:ln/>
        </p:spPr>
        <p:txBody>
          <a:bodyPr wrap="square" lIns="0" tIns="0" rIns="0" bIns="0" rtlCol="0" anchor="t"/>
          <a:lstStyle/>
          <a:p>
            <a:pPr algn="ctr" indent="0" marL="0">
              <a:buNone/>
            </a:pPr>
            <a:r>
              <a:rPr lang="en-US" sz="1300" dirty="0">
                <a:solidFill>
                  <a:schemeClr val="tx1"/>
                </a:solidFill>
              </a:rPr>
              <a:t>If we’re on track: a second model reviews the first</a:t>
            </a:r>
            <a:endParaRPr lang="en-US" sz="1300" dirty="0"/>
          </a:p>
        </p:txBody>
      </p:sp>
      <p:sp>
        <p:nvSpPr>
          <p:cNvPr id="12" name="chev4"/>
          <p:cNvSpPr/>
          <p:nvPr/>
        </p:nvSpPr>
        <p:spPr>
          <a:xfrm>
            <a:off x="7132320" y="1463040"/>
            <a:ext cx="2286000" cy="822960"/>
          </a:xfrm>
          <a:prstGeom prst="chevron">
            <a:avLst/>
          </a:prstGeom>
          <a:solidFill>
            <a:schemeClr val="accent2">
              <a:alpha val="85000"/>
            </a:schemeClr>
          </a:solidFill>
          <a:ln/>
        </p:spPr>
      </p:sp>
      <p:sp>
        <p:nvSpPr>
          <p:cNvPr id="13" name="Text 11"/>
          <p:cNvSpPr txBox="1"/>
          <p:nvPr/>
        </p:nvSpPr>
        <p:spPr>
          <a:xfrm>
            <a:off x="745236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Weeks 14-15</a:t>
            </a:r>
            <a:endParaRPr lang="en-US" sz="1500" dirty="0"/>
          </a:p>
        </p:txBody>
      </p:sp>
      <p:sp>
        <p:nvSpPr>
          <p:cNvPr id="14" name="Text 12"/>
          <p:cNvSpPr txBox="1"/>
          <p:nvPr/>
        </p:nvSpPr>
        <p:spPr>
          <a:xfrm>
            <a:off x="7223760" y="2423160"/>
            <a:ext cx="2011680" cy="1188720"/>
          </a:xfrm>
          <a:prstGeom prst="rect">
            <a:avLst/>
          </a:prstGeom>
          <a:noFill/>
          <a:ln/>
        </p:spPr>
        <p:txBody>
          <a:bodyPr wrap="square" lIns="0" tIns="0" rIns="0" bIns="0" rtlCol="0" anchor="t"/>
          <a:lstStyle/>
          <a:p>
            <a:pPr algn="ctr" indent="0" marL="0">
              <a:buNone/>
            </a:pPr>
            <a:r>
              <a:rPr lang="en-US" sz="1300" dirty="0">
                <a:solidFill>
                  <a:schemeClr val="tx1"/>
                </a:solidFill>
              </a:rPr>
              <a:t>Stats, charts, report draft</a:t>
            </a:r>
            <a:endParaRPr lang="en-US" sz="1300" dirty="0"/>
          </a:p>
        </p:txBody>
      </p:sp>
      <p:sp>
        <p:nvSpPr>
          <p:cNvPr id="15" name="chev5"/>
          <p:cNvSpPr/>
          <p:nvPr/>
        </p:nvSpPr>
        <p:spPr>
          <a:xfrm>
            <a:off x="9326880" y="1463040"/>
            <a:ext cx="2286000" cy="822960"/>
          </a:xfrm>
          <a:prstGeom prst="chevron">
            <a:avLst/>
          </a:prstGeom>
          <a:solidFill>
            <a:schemeClr val="accent1">
              <a:alpha val="85000"/>
            </a:schemeClr>
          </a:solidFill>
          <a:ln/>
        </p:spPr>
      </p:sp>
      <p:sp>
        <p:nvSpPr>
          <p:cNvPr id="16" name="Text 14"/>
          <p:cNvSpPr txBox="1"/>
          <p:nvPr/>
        </p:nvSpPr>
        <p:spPr>
          <a:xfrm>
            <a:off x="9646920" y="1463040"/>
            <a:ext cx="1645920" cy="822960"/>
          </a:xfrm>
          <a:prstGeom prst="rect">
            <a:avLst/>
          </a:prstGeom>
          <a:noFill/>
          <a:ln/>
        </p:spPr>
        <p:txBody>
          <a:bodyPr wrap="square" lIns="0" tIns="0" rIns="0" bIns="0" rtlCol="0" anchor="ctr"/>
          <a:lstStyle/>
          <a:p>
            <a:pPr algn="ctr" indent="0" marL="0">
              <a:buNone/>
            </a:pPr>
            <a:r>
              <a:rPr lang="en-US" sz="1500" b="1" dirty="0">
                <a:solidFill>
                  <a:schemeClr val="bg1"/>
                </a:solidFill>
              </a:rPr>
              <a:t>Week 16</a:t>
            </a:r>
            <a:endParaRPr lang="en-US" sz="1500" dirty="0"/>
          </a:p>
        </p:txBody>
      </p:sp>
      <p:sp>
        <p:nvSpPr>
          <p:cNvPr id="17" name="Text 15"/>
          <p:cNvSpPr txBox="1"/>
          <p:nvPr/>
        </p:nvSpPr>
        <p:spPr>
          <a:xfrm>
            <a:off x="9418320" y="2423160"/>
            <a:ext cx="2011680" cy="1188720"/>
          </a:xfrm>
          <a:prstGeom prst="rect">
            <a:avLst/>
          </a:prstGeom>
          <a:noFill/>
          <a:ln/>
        </p:spPr>
        <p:txBody>
          <a:bodyPr wrap="square" lIns="0" tIns="0" rIns="0" bIns="0" rtlCol="0" anchor="t"/>
          <a:lstStyle/>
          <a:p>
            <a:pPr algn="ctr" indent="0" marL="0">
              <a:buNone/>
            </a:pPr>
            <a:r>
              <a:rPr lang="en-US" sz="1300" dirty="0">
                <a:solidFill>
                  <a:schemeClr val="tx1"/>
                </a:solidFill>
              </a:rPr>
              <a:t>Final presentation</a:t>
            </a:r>
            <a:endParaRPr lang="en-US" sz="1300" dirty="0"/>
          </a:p>
        </p:txBody>
      </p:sp>
      <p:sp>
        <p:nvSpPr>
          <p:cNvPr id="18" name="roles-card"/>
          <p:cNvSpPr/>
          <p:nvPr/>
        </p:nvSpPr>
        <p:spPr>
          <a:xfrm>
            <a:off x="548640" y="3520440"/>
            <a:ext cx="11064240" cy="2377440"/>
          </a:xfrm>
          <a:prstGeom prst="roundRect">
            <a:avLst>
              <a:gd name="adj" fmla="val 3077"/>
            </a:avLst>
          </a:prstGeom>
          <a:solidFill>
            <a:schemeClr val="bg2"/>
          </a:solidFill>
          <a:ln/>
        </p:spPr>
      </p:sp>
      <p:sp>
        <p:nvSpPr>
          <p:cNvPr id="19" name="roles-circle"/>
          <p:cNvSpPr/>
          <p:nvPr/>
        </p:nvSpPr>
        <p:spPr>
          <a:xfrm>
            <a:off x="822960" y="3794760"/>
            <a:ext cx="777240" cy="777240"/>
          </a:xfrm>
          <a:prstGeom prst="ellipse">
            <a:avLst/>
          </a:prstGeom>
          <a:solidFill>
            <a:schemeClr val="accent1">
              <a:alpha val="16000"/>
            </a:schemeClr>
          </a:solidFill>
          <a:ln/>
        </p:spPr>
      </p:sp>
      <p:pic>
        <p:nvPicPr>
          <p:cNvPr id="20" name="roles-icon" descr="preencoded.png">    </p:cNvPr>
          <p:cNvPicPr>
            <a:picLocks noChangeAspect="1"/>
          </p:cNvPicPr>
          <p:nvPr/>
        </p:nvPicPr>
        <p:blipFill>
          <a:blip r:embed="rId1"/>
          <a:stretch>
            <a:fillRect/>
          </a:stretch>
        </p:blipFill>
        <p:spPr>
          <a:xfrm>
            <a:off x="1025042" y="3996842"/>
            <a:ext cx="373075" cy="373075"/>
          </a:xfrm>
          <a:prstGeom prst="rect">
            <a:avLst/>
          </a:prstGeom>
        </p:spPr>
      </p:pic>
      <p:sp>
        <p:nvSpPr>
          <p:cNvPr id="21" name="Text 18"/>
          <p:cNvSpPr txBox="1"/>
          <p:nvPr/>
        </p:nvSpPr>
        <p:spPr>
          <a:xfrm>
            <a:off x="1828800" y="3749040"/>
            <a:ext cx="9509760" cy="411480"/>
          </a:xfrm>
          <a:prstGeom prst="rect">
            <a:avLst/>
          </a:prstGeom>
          <a:noFill/>
          <a:ln/>
        </p:spPr>
        <p:txBody>
          <a:bodyPr wrap="square" lIns="0" tIns="0" rIns="0" bIns="0" rtlCol="0" anchor="ctr"/>
          <a:lstStyle/>
          <a:p>
            <a:pPr indent="0" marL="0">
              <a:buNone/>
            </a:pPr>
            <a:r>
              <a:rPr lang="en-US" sz="1600" b="1" dirty="0">
                <a:solidFill>
                  <a:schemeClr val="tx1"/>
                </a:solidFill>
              </a:rPr>
              <a:t>Who does what</a:t>
            </a:r>
            <a:endParaRPr lang="en-US" sz="1600" dirty="0"/>
          </a:p>
        </p:txBody>
      </p:sp>
      <p:sp>
        <p:nvSpPr>
          <p:cNvPr id="22" name="Text 19"/>
          <p:cNvSpPr txBox="1"/>
          <p:nvPr/>
        </p:nvSpPr>
        <p:spPr>
          <a:xfrm>
            <a:off x="1828800" y="4206240"/>
            <a:ext cx="9509760" cy="155448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Shrey Bishnoi (coordinator): </a:t>
            </a:r>
            <a:pPr indent="0" marL="0">
              <a:spcAft>
                <a:spcPts val="300"/>
              </a:spcAft>
              <a:buNone/>
            </a:pPr>
            <a:r>
              <a:rPr lang="en-US" sz="1500" dirty="0">
                <a:solidFill>
                  <a:schemeClr val="tx1"/>
                </a:solidFill>
              </a:rPr>
              <a:t>code that runs the models, the two-model extension</a:t>
            </a:r>
            <a:endParaRPr lang="en-US" sz="1500" dirty="0"/>
          </a:p>
          <a:p>
            <a:pPr indent="0" marL="0">
              <a:spcAft>
                <a:spcPts val="300"/>
              </a:spcAft>
              <a:buNone/>
            </a:pPr>
            <a:r>
              <a:rPr lang="en-US" sz="1500" b="1" dirty="0">
                <a:solidFill>
                  <a:schemeClr val="tx1"/>
                </a:solidFill>
              </a:rPr>
              <a:t>Arsha Jindal: </a:t>
            </a:r>
            <a:pPr indent="0" marL="0">
              <a:spcAft>
                <a:spcPts val="300"/>
              </a:spcAft>
              <a:buNone/>
            </a:pPr>
            <a:r>
              <a:rPr lang="en-US" sz="1500" dirty="0">
                <a:solidFill>
                  <a:schemeClr val="tx1"/>
                </a:solidFill>
              </a:rPr>
              <a:t>question sets, hints, labeling guide</a:t>
            </a:r>
            <a:endParaRPr lang="en-US" sz="1500" dirty="0"/>
          </a:p>
          <a:p>
            <a:pPr indent="0" marL="0">
              <a:spcAft>
                <a:spcPts val="300"/>
              </a:spcAft>
              <a:buNone/>
            </a:pPr>
            <a:r>
              <a:rPr lang="en-US" sz="1500" b="1" dirty="0">
                <a:solidFill>
                  <a:schemeClr val="tx1"/>
                </a:solidFill>
              </a:rPr>
              <a:t>Ritik Agarwal: </a:t>
            </a:r>
            <a:pPr indent="0" marL="0">
              <a:spcAft>
                <a:spcPts val="300"/>
              </a:spcAft>
              <a:buNone/>
            </a:pPr>
            <a:r>
              <a:rPr lang="en-US" sz="1500" dirty="0">
                <a:solidFill>
                  <a:schemeClr val="tx1"/>
                </a:solidFill>
              </a:rPr>
              <a:t>stats, charts, checking how well our labels agree</a:t>
            </a:r>
            <a:endParaRPr lang="en-US" sz="1500" dirty="0"/>
          </a:p>
          <a:p>
            <a:pPr indent="0" marL="0">
              <a:spcAft>
                <a:spcPts val="300"/>
              </a:spcAft>
              <a:buNone/>
            </a:pPr>
            <a:r>
              <a:rPr lang="en-US" sz="1500" b="1" dirty="0">
                <a:solidFill>
                  <a:schemeClr val="tx1"/>
                </a:solidFill>
              </a:rPr>
              <a:t>All three: </a:t>
            </a:r>
            <a:pPr indent="0" marL="0">
              <a:spcAft>
                <a:spcPts val="300"/>
              </a:spcAft>
              <a:buNone/>
            </a:pPr>
            <a:r>
              <a:rPr lang="en-US" sz="1500" dirty="0">
                <a:solidFill>
                  <a:schemeClr val="tx1"/>
                </a:solidFill>
              </a:rPr>
              <a:t>hand-labeling, presentations, report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6766560" cy="1920240"/>
          </a:xfrm>
          <a:prstGeom prst="rect">
            <a:avLst/>
          </a:prstGeom>
          <a:noFill/>
          <a:ln/>
        </p:spPr>
        <p:txBody>
          <a:bodyPr wrap="square" lIns="0" tIns="0" rIns="0" bIns="0" rtlCol="0" anchor="b"/>
          <a:lstStyle/>
          <a:p>
            <a:pPr algn="l" indent="0" marL="0">
              <a:buNone/>
            </a:pPr>
            <a:r>
              <a:rPr lang="en-US" sz="3200" b="1" dirty="0">
                <a:solidFill>
                  <a:schemeClr val="bg1"/>
                </a:solidFill>
              </a:rPr>
              <a:t>Models mostly ignore the hint, but thinking models almost always see it and almost never say so.</a:t>
            </a:r>
            <a:endParaRPr lang="en-US" sz="4000" dirty="0"/>
          </a:p>
        </p:txBody>
      </p:sp>
      <p:sp>
        <p:nvSpPr>
          <p:cNvPr id="3" name="Text 0"/>
          <p:cNvSpPr/>
          <p:nvPr>
            <p:ph idx="101" type="body" hasCustomPrompt="1"/>
          </p:nvPr>
        </p:nvSpPr>
        <p:spPr>
          <a:xfrm>
            <a:off x="731520" y="3520440"/>
            <a:ext cx="6583680" cy="822960"/>
          </a:xfrm>
          <a:prstGeom prst="rect">
            <a:avLst/>
          </a:prstGeom>
          <a:noFill/>
          <a:ln/>
        </p:spPr>
        <p:txBody>
          <a:bodyPr wrap="square" lIns="0" tIns="0" rIns="0" bIns="0" rtlCol="0" anchor="t"/>
          <a:lstStyle/>
          <a:p>
            <a:pPr indent="0" marL="0">
              <a:buNone/>
            </a:pPr>
            <a:r>
              <a:rPr lang="en-US" sz="1900" dirty="0">
                <a:solidFill>
                  <a:schemeClr val="bg2"/>
                </a:solidFill>
              </a:rPr>
              <a:t>Next: does a second model catch this, or pass it along?</a:t>
            </a:r>
            <a:endParaRPr lang="en-US" sz="1900" dirty="0"/>
          </a:p>
        </p:txBody>
      </p:sp>
      <p:sp>
        <p:nvSpPr>
          <p:cNvPr id="4" name="Text 0"/>
          <p:cNvSpPr/>
          <p:nvPr>
            <p:ph idx="102" type="body" hasCustomPrompt="1"/>
          </p:nvPr>
        </p:nvSpPr>
        <p:spPr>
          <a:xfrm>
            <a:off x="731520" y="4892040"/>
            <a:ext cx="6766560" cy="1188720"/>
          </a:xfrm>
          <a:prstGeom prst="rect">
            <a:avLst/>
          </a:prstGeom>
          <a:noFill/>
          <a:ln/>
        </p:spPr>
        <p:txBody>
          <a:bodyPr wrap="square" lIns="0" tIns="0" rIns="0" bIns="0" rtlCol="0" anchor="t"/>
          <a:lstStyle/>
          <a:p>
            <a:pPr indent="0" marL="0">
              <a:buNone/>
            </a:pPr>
            <a:r>
              <a:rPr lang="en-US" sz="2800" b="1" dirty="0">
                <a:solidFill>
                  <a:schemeClr val="accent2"/>
                </a:solidFill>
              </a:rPr>
              <a:t>Questions?</a:t>
            </a:r>
            <a:endParaRPr lang="en-US" sz="1500" dirty="0"/>
          </a:p>
        </p:txBody>
      </p:sp>
      <p:sp>
        <p:nvSpPr>
          <p:cNvPr id="5" name="close-private"/>
          <p:cNvSpPr/>
          <p:nvPr/>
        </p:nvSpPr>
        <p:spPr>
          <a:xfrm>
            <a:off x="8001000" y="1554480"/>
            <a:ext cx="2468880" cy="2468880"/>
          </a:xfrm>
          <a:prstGeom prst="ellipse">
            <a:avLst/>
          </a:prstGeom>
          <a:solidFill>
            <a:schemeClr val="accent1">
              <a:alpha val="30000"/>
            </a:schemeClr>
          </a:solidFill>
          <a:ln/>
        </p:spPr>
      </p:sp>
      <p:sp>
        <p:nvSpPr>
          <p:cNvPr id="6" name="close-visible"/>
          <p:cNvSpPr/>
          <p:nvPr/>
        </p:nvSpPr>
        <p:spPr>
          <a:xfrm>
            <a:off x="9281160" y="2697480"/>
            <a:ext cx="2468880" cy="2468880"/>
          </a:xfrm>
          <a:prstGeom prst="ellipse">
            <a:avLst/>
          </a:prstGeom>
          <a:solidFill>
            <a:schemeClr val="accent2">
              <a:alpha val="35000"/>
            </a:schemeClr>
          </a:solidFill>
          <a:ln/>
        </p:spPr>
      </p:sp>
      <p:pic>
        <p:nvPicPr>
          <p:cNvPr id="7" name="close-lock" descr="preencoded.png">    </p:cNvPr>
          <p:cNvPicPr>
            <a:picLocks noChangeAspect="1"/>
          </p:cNvPicPr>
          <p:nvPr/>
        </p:nvPicPr>
        <p:blipFill>
          <a:blip r:embed="rId1"/>
          <a:stretch>
            <a:fillRect/>
          </a:stretch>
        </p:blipFill>
        <p:spPr>
          <a:xfrm>
            <a:off x="8732520" y="2240280"/>
            <a:ext cx="822960" cy="822960"/>
          </a:xfrm>
          <a:prstGeom prst="rect">
            <a:avLst/>
          </a:prstGeom>
        </p:spPr>
      </p:pic>
      <p:pic>
        <p:nvPicPr>
          <p:cNvPr id="8" name="close-eye" descr="preencoded.png">    </p:cNvPr>
          <p:cNvPicPr>
            <a:picLocks noChangeAspect="1"/>
          </p:cNvPicPr>
          <p:nvPr/>
        </p:nvPicPr>
        <p:blipFill>
          <a:blip r:embed="rId2"/>
          <a:stretch>
            <a:fillRect/>
          </a:stretch>
        </p:blipFill>
        <p:spPr>
          <a:xfrm>
            <a:off x="10287000" y="3703320"/>
            <a:ext cx="822960" cy="8229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how the two models in each pair differ</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554480"/>
                <a:gridCol w="2834640"/>
                <a:gridCol w="2560320"/>
                <a:gridCol w="4114800"/>
              </a:tblGrid>
              <a:tr h="0">
                <a:tc>
                  <a:txBody>
                    <a:bodyPr/>
                    <a:lstStyle/>
                    <a:p>
                      <a:pPr indent="0" marL="0">
                        <a:buNone/>
                      </a:pPr>
                      <a:r>
                        <a:rPr lang="en-US" sz="1400" b="1" dirty="0">
                          <a:solidFill>
                            <a:schemeClr val="bg1"/>
                          </a:solidFill>
                        </a:rPr>
                        <a:t>Pair</a:t>
                      </a:r>
                      <a:endParaRPr lang="en-US" sz="1400" dirty="0"/>
                    </a:p>
                  </a:txBody>
                  <a:tcPr marL="73152" marR="73152" marT="73152" marB="73152">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Names on Voyager</a:t>
                      </a:r>
                      <a:endParaRPr lang="en-US" sz="1400" dirty="0"/>
                    </a:p>
                  </a:txBody>
                  <a:tcPr marL="73152" marR="73152" marT="73152" marB="73152">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Same</a:t>
                      </a:r>
                      <a:endParaRPr lang="en-US" sz="1400" dirty="0"/>
                    </a:p>
                  </a:txBody>
                  <a:tcPr marL="73152" marR="73152" marT="73152" marB="73152">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Different</a:t>
                      </a:r>
                      <a:endParaRPr lang="en-US" sz="1400" dirty="0"/>
                    </a:p>
                  </a:txBody>
                  <a:tcPr marL="73152" marR="73152" marT="73152" marB="73152">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50" dirty="0">
                          <a:solidFill>
                            <a:schemeClr val="tx1"/>
                          </a:solidFill>
                        </a:rPr>
                        <a:t>Olmo 3 7B</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olmo3-7b-instruct</a:t>
                      </a:r>
                      <a:endParaRPr lang="en-US" sz="1350" dirty="0"/>
                    </a:p>
                    <a:p>
                      <a:pPr indent="0" marL="0">
                        <a:buNone/>
                      </a:pPr>
                      <a:r>
                        <a:rPr lang="en-US" sz="1350" dirty="0">
                          <a:solidFill>
                            <a:schemeClr val="tx1"/>
                          </a:solidFill>
                        </a:rPr>
                        <a:t>olmo3-7b-think</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Same base model and the same three training stages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Think learned from worked reasoning written by other models (QwQ-32B, DeepSeek-R1). Instruct learned from chat and tool-use examples with that reasoning removed</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50" dirty="0">
                          <a:solidFill>
                            <a:schemeClr val="tx1"/>
                          </a:solidFill>
                        </a:rPr>
                        <a:t>Olmo 3 32B</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olmo3-32b-instruct</a:t>
                      </a:r>
                      <a:endParaRPr lang="en-US" sz="1350" dirty="0"/>
                    </a:p>
                    <a:p>
                      <a:pPr indent="0" marL="0">
                        <a:buNone/>
                      </a:pPr>
                      <a:r>
                        <a:rPr lang="en-US" sz="1350" dirty="0">
                          <a:solidFill>
                            <a:schemeClr val="tx1"/>
                          </a:solidFill>
                        </a:rPr>
                        <a:t>olmo3-32b-think</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Same as above</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Same training recipes. A newer Olmo 3.1 32B also exists; we still need to check which one Voyager runs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50" dirty="0">
                          <a:solidFill>
                            <a:schemeClr val="tx1"/>
                          </a:solidFill>
                        </a:rPr>
                        <a:t>Qwen3 30B</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qwen3-30b-a3b-instruct-2507</a:t>
                      </a:r>
                      <a:endParaRPr lang="en-US" sz="1350" dirty="0"/>
                    </a:p>
                    <a:p>
                      <a:pPr indent="0" marL="0">
                        <a:buNone/>
                      </a:pPr>
                      <a:r>
                        <a:rPr lang="en-US" sz="1350" dirty="0">
                          <a:solidFill>
                            <a:schemeClr val="tx1"/>
                          </a:solidFill>
                        </a:rPr>
                        <a:t>qwen3-30b-a3b-thinking-2507</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Same design and size (30.5B parameters, 3.3B used per word)</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Trained separately after the base model: one always thinks, one never does. Their makers suggest slightly different randomness (0.6 vs 0.7); we use 0.6 for both</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4" name="Text 1"/>
          <p:cNvSpPr txBox="1"/>
          <p:nvPr/>
        </p:nvSpPr>
        <p:spPr>
          <a:xfrm>
            <a:off x="548640" y="5806440"/>
            <a:ext cx="11064240" cy="320040"/>
          </a:xfrm>
          <a:prstGeom prst="rect">
            <a:avLst/>
          </a:prstGeom>
          <a:noFill/>
          <a:ln/>
        </p:spPr>
        <p:txBody>
          <a:bodyPr wrap="square" lIns="0" tIns="0" rIns="0" bIns="0" rtlCol="0" anchor="ctr"/>
          <a:lstStyle/>
          <a:p>
            <a:pPr indent="0" marL="0">
              <a:buNone/>
            </a:pPr>
            <a:r>
              <a:rPr lang="en-US" sz="1100" dirty="0">
                <a:solidFill>
                  <a:schemeClr val="accent5"/>
                </a:solidFill>
              </a:rPr>
              <a:t>Sources: AI2’s Olmo 3 release and model cards; Qwen3-2507 model cards.</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algn="l" indent="0" marL="0">
              <a:buNone/>
            </a:pPr>
            <a:r>
              <a:rPr lang="en-US" sz="3000" b="1" dirty="0">
                <a:solidFill>
                  <a:schemeClr val="tx1"/>
                </a:solidFill>
              </a:rPr>
              <a:t>Backup: how we ran this round</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560320"/>
                <a:gridCol w="8503920"/>
              </a:tblGrid>
              <a:tr h="0">
                <a:tc>
                  <a:txBody>
                    <a:bodyPr/>
                    <a:lstStyle/>
                    <a:p>
                      <a:pPr indent="0" marL="0">
                        <a:buNone/>
                      </a:pPr>
                      <a:r>
                        <a:rPr lang="en-US" sz="1400" b="1" dirty="0">
                          <a:solidFill>
                            <a:schemeClr val="bg1"/>
                          </a:solidFill>
                        </a:rPr>
                        <a:t>Setting</a:t>
                      </a:r>
                      <a:endParaRPr lang="en-US" sz="1400" dirty="0"/>
                    </a:p>
                  </a:txBody>
                  <a:tcPr marL="73152" marR="73152" marT="73152" marB="73152">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This round</a:t>
                      </a:r>
                      <a:endParaRPr lang="en-US" sz="1400" dirty="0"/>
                    </a:p>
                  </a:txBody>
                  <a:tcPr marL="73152" marR="73152" marT="73152" marB="73152">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chemeClr val="tx2"/>
                    </a:solidFill>
                  </a:tcPr>
                </a:tc>
              </a:tr>
              <a:tr h="0">
                <a:tc>
                  <a:txBody>
                    <a:bodyPr/>
                    <a:lstStyle/>
                    <a:p>
                      <a:pPr indent="0" marL="0">
                        <a:buNone/>
                      </a:pPr>
                      <a:r>
                        <a:rPr lang="en-US" sz="1350" dirty="0">
                          <a:solidFill>
                            <a:schemeClr val="tx1"/>
                          </a:solidFill>
                        </a:rPr>
                        <a:t>Puzzles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24 swap puzzles (7 people, 15 swaps), with right answers spread evenly across A to G</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50" dirty="0">
                          <a:solidFill>
                            <a:schemeClr val="tx1"/>
                          </a:solidFill>
                        </a:rPr>
                        <a:t>Runs per puzzle</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No hint 3 times, a wrong hint 2 times (spread across letters), a right hint once</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50" dirty="0">
                          <a:solidFill>
                            <a:schemeClr val="tx1"/>
                          </a:solidFill>
                        </a:rPr>
                        <a:t>Settings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Randomness (temperature) 0.6, fixed random seeds so runs repeat exactly, up to 16,000 tokens per reply</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50" dirty="0">
                          <a:solidFill>
                            <a:schemeClr val="tx1"/>
                          </a:solidFill>
                        </a:rPr>
                        <a:t>Extra tests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“Think briefly” on 2 thinking models; “answer only” on 4 models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50" dirty="0">
                          <a:solidFill>
                            <a:schemeClr val="tx1"/>
                          </a:solidFill>
                        </a:rPr>
                        <a:t>Typical reply length (tokens)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Olmo 3 7B Instruct 2,021 · Olmo 3 7B Think 8,026 · Olmo 3 32B Instruct 1,669 · Olmo 3 32B Think 5,725 · Qwen3 30B Instruct 891 · Qwen3 30B Thinking 3,997</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0">
                <a:tc>
                  <a:txBody>
                    <a:bodyPr/>
                    <a:lstStyle/>
                    <a:p>
                      <a:pPr indent="0" marL="0">
                        <a:buNone/>
                      </a:pPr>
                      <a:r>
                        <a:rPr lang="en-US" sz="1350" dirty="0">
                          <a:solidFill>
                            <a:schemeClr val="tx1"/>
                          </a:solidFill>
                        </a:rPr>
                        <a:t>Calls</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50" dirty="0">
                          <a:solidFill>
                            <a:schemeClr val="tx1"/>
                          </a:solidFill>
                        </a:rPr>
                        <a:t>1,056 this round; 0 failed</a:t>
                      </a:r>
                      <a:endParaRPr lang="en-US" sz="1350" dirty="0"/>
                    </a:p>
                  </a:txBody>
                  <a:tcPr marL="73152" marR="73152" marT="73152" marB="73152" anchor="t">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Two Channels">
      <a:dk1>
        <a:srgbClr val="1A1D24"/>
      </a:dk1>
      <a:lt1>
        <a:srgbClr val="FFFFFF"/>
      </a:lt1>
      <a:dk2>
        <a:srgbClr val="232A36"/>
      </a:dk2>
      <a:lt2>
        <a:srgbClr val="F1F4F8"/>
      </a:lt2>
      <a:accent1>
        <a:srgbClr val="2A78D6"/>
      </a:accent1>
      <a:accent2>
        <a:srgbClr val="EB6834"/>
      </a:accent2>
      <a:accent3>
        <a:srgbClr val="1BAF7A"/>
      </a:accent3>
      <a:accent4>
        <a:srgbClr val="EDA100"/>
      </a:accent4>
      <a:accent5>
        <a:srgbClr val="6B7280"/>
      </a:accent5>
      <a:accent6>
        <a:srgbClr val="4A3AA7"/>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Thinking Modes Make Chain-of-Thought More Honest? (progress report)</dc:title>
  <dc:subject>PptxGenJS Presentation</dc:subject>
  <dc:creator>Group 10: Shrey Bishnoi, Arsha Jindal, Ritik Agarwal</dc:creator>
  <cp:lastModifiedBy>Group 10: Shrey Bishnoi, Arsha Jindal, Ritik Agarwal</cp:lastModifiedBy>
  <cp:revision>1</cp:revision>
  <dcterms:created xsi:type="dcterms:W3CDTF">2026-10-02T20:51:16Z</dcterms:created>
  <dcterms:modified xsi:type="dcterms:W3CDTF">2026-10-02T20:51:16Z</dcterms:modified>
</cp:coreProperties>
</file>