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01e1577-2b91-e8d6-9363-c5379a98ad78}">
          <p14:sldIdLst>
            <p14:sldId id="256"/>
          </p14:sldIdLst>
        </p14:section>
        <p14:section name="Question &amp; changes" id="{9751596d-a3ab-fe08-7c3d-55d9493baee6}">
          <p14:sldIdLst>
            <p14:sldId id="257"/>
          </p14:sldIdLst>
        </p14:section>
        <p14:section name="Pipeline" id="{eec0abca-f3a4-acf2-9c33-6f3b6029472c}">
          <p14:sldIdLst>
            <p14:sldId id="258"/>
          </p14:sldIdLst>
        </p14:section>
        <p14:section name="Results" id="{eac933c3-5c3e-484d-5d25-1388828a2720}">
          <p14:sldIdLst>
            <p14:sldId id="259"/>
            <p14:sldId id="260"/>
            <p14:sldId id="261"/>
          </p14:sldIdLst>
        </p14:section>
        <p14:section name="Risks &amp; next steps" id="{5e0c7858-1ebd-2a94-ceeb-430fa1e5ebd5}">
          <p14:sldIdLst>
            <p14:sldId id="262"/>
            <p14:sldId id="263"/>
            <p14:sldId id="264"/>
          </p14:sldIdLst>
        </p14:section>
        <p14:section name="Backup" id="{68add3ac-2c20-4810-a32d-0076c5c46301}">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D24"/>
                </a:solidFill>
                <a:latin typeface="+mn-lt"/>
              </a:defRPr>
            </a:pPr>
            <a:r>
              <a:rPr sz="1300" b="0" i="0" u="none" strike="noStrike">
                <a:solidFill>
                  <a:srgbClr val="1A1D24"/>
                </a:solidFill>
                <a:latin typeface="+mn-lt"/>
              </a:rPr>
              <a:t>How often models chose the wrong option the hint pointed to</a:t>
            </a:r>
          </a:p>
        </c:rich>
      </c:tx>
      <c:layout/>
      <c:overlay val="0"/>
    </c:title>
    <c:autoTitleDeleted val="0"/>
    <c:plotArea>
      <c:layout/>
      <c:barChart>
        <c:barDir val="bar"/>
        <c:grouping val="clustered"/>
        <c:varyColors val="0"/>
        <c:ser>
          <c:idx val="0"/>
          <c:order val="0"/>
          <c:tx>
            <c:strRef>
              <c:f>Sheet1!$B$1</c:f>
              <c:strCache>
                <c:ptCount val="1"/>
                <c:pt idx="0">
                  <c:v>No hint: picked that option anyway</c:v>
                </c:pt>
              </c:strCache>
            </c:strRef>
          </c:tx>
          <c:spPr>
            <a:solidFill>
              <a:srgbClr val="2A78D6"/>
            </a:solidFill>
            <a:effectLst/>
          </c:spPr>
          <c:invertIfNegative val="0"/>
          <c:dLbls>
            <c:numFmt formatCode="0%" sourceLinked="0"/>
            <c:txPr>
              <a:bodyPr/>
              <a:lstStyle/>
              <a:p>
                <a:pPr>
                  <a:defRPr b="0" i="0" strike="noStrike" sz="1100" u="none">
                    <a:solidFill>
                      <a:srgbClr val="1A1D24"/>
                    </a:solidFill>
                    <a:latin typeface="+mn-lt"/>
                  </a:defRPr>
                </a:pPr>
              </a:p>
            </c:txPr>
            <c:showLegendKey val="0"/>
            <c:showVal val="1"/>
            <c:showCatName val="0"/>
            <c:showSerName val="0"/>
            <c:showPercent val="0"/>
            <c:showBubbleSize val="0"/>
            <c:showLeaderLines val="0"/>
          </c:dLbls>
          <c:cat>
            <c:multiLvlStrRef>
              <c:f>Sheet1!$A$2:$A$7</c:f>
              <c:multiLvlStrCache>
                <c:ptCount val="6"/>
                <c:lvl>
                  <c:pt idx="0">
                    <c:v>Olmo 3 7B Instruct</c:v>
                  </c:pt>
                  <c:pt idx="1">
                    <c:v>Olmo 3 7B Think</c:v>
                  </c:pt>
                  <c:pt idx="2">
                    <c:v>Olmo 3 32B Instruct</c:v>
                  </c:pt>
                  <c:pt idx="3">
                    <c:v>Olmo 3 32B Think</c:v>
                  </c:pt>
                  <c:pt idx="4">
                    <c:v>Qwen3 30B Instruct</c:v>
                  </c:pt>
                  <c:pt idx="5">
                    <c:v>Qwen3 30B Thinking</c:v>
                  </c:pt>
                </c:lvl>
              </c:multiLvlStrCache>
            </c:multiLvlStrRef>
          </c:cat>
          <c:val>
            <c:numRef>
              <c:f>Sheet1!$B$2:$B$7</c:f>
              <c:numCache>
                <c:formatCode>General</c:formatCode>
                <c:ptCount val="6"/>
                <c:pt idx="0">
                  <c:v>0</c:v>
                </c:pt>
                <c:pt idx="1">
                  <c:v>0</c:v>
                </c:pt>
                <c:pt idx="2">
                  <c:v>0</c:v>
                </c:pt>
                <c:pt idx="3">
                  <c:v>0</c:v>
                </c:pt>
                <c:pt idx="4">
                  <c:v>0</c:v>
                </c:pt>
                <c:pt idx="5">
                  <c:v>0</c:v>
                </c:pt>
              </c:numCache>
            </c:numRef>
          </c:val>
        </c:ser>
        <c:ser>
          <c:idx val="1"/>
          <c:order val="1"/>
          <c:tx>
            <c:strRef>
              <c:f>Sheet1!$C$1</c:f>
              <c:strCache>
                <c:ptCount val="1"/>
                <c:pt idx="0">
                  <c:v>With hint: picked the hinted option</c:v>
                </c:pt>
              </c:strCache>
            </c:strRef>
          </c:tx>
          <c:spPr>
            <a:solidFill>
              <a:srgbClr val="EB6834"/>
            </a:solidFill>
            <a:effectLst/>
          </c:spPr>
          <c:invertIfNegative val="0"/>
          <c:dLbls>
            <c:numFmt formatCode="0%" sourceLinked="0"/>
            <c:txPr>
              <a:bodyPr/>
              <a:lstStyle/>
              <a:p>
                <a:pPr>
                  <a:defRPr b="0" i="0" strike="noStrike" sz="1100" u="none">
                    <a:solidFill>
                      <a:srgbClr val="1A1D24"/>
                    </a:solidFill>
                    <a:latin typeface="+mn-lt"/>
                  </a:defRPr>
                </a:pPr>
              </a:p>
            </c:txPr>
            <c:showLegendKey val="0"/>
            <c:showVal val="1"/>
            <c:showCatName val="0"/>
            <c:showSerName val="0"/>
            <c:showPercent val="0"/>
            <c:showBubbleSize val="0"/>
            <c:showLeaderLines val="0"/>
          </c:dLbls>
          <c:cat>
            <c:multiLvlStrRef>
              <c:f>Sheet1!$A$2:$A$7</c:f>
              <c:multiLvlStrCache>
                <c:ptCount val="6"/>
                <c:lvl>
                  <c:pt idx="0">
                    <c:v>Olmo 3 7B Instruct</c:v>
                  </c:pt>
                  <c:pt idx="1">
                    <c:v>Olmo 3 7B Think</c:v>
                  </c:pt>
                  <c:pt idx="2">
                    <c:v>Olmo 3 32B Instruct</c:v>
                  </c:pt>
                  <c:pt idx="3">
                    <c:v>Olmo 3 32B Think</c:v>
                  </c:pt>
                  <c:pt idx="4">
                    <c:v>Qwen3 30B Instruct</c:v>
                  </c:pt>
                  <c:pt idx="5">
                    <c:v>Qwen3 30B Thinking</c:v>
                  </c:pt>
                </c:lvl>
              </c:multiLvlStrCache>
            </c:multiLvlStrRef>
          </c:cat>
          <c:val>
            <c:numRef>
              <c:f>Sheet1!$C$2:$C$7</c:f>
              <c:numCache>
                <c:formatCode>General</c:formatCode>
                <c:ptCount val="6"/>
                <c:pt idx="0">
                  <c:v>0</c:v>
                </c:pt>
                <c:pt idx="1">
                  <c:v>0</c:v>
                </c:pt>
                <c:pt idx="2">
                  <c:v>0</c:v>
                </c:pt>
                <c:pt idx="3">
                  <c:v>0</c:v>
                </c:pt>
                <c:pt idx="4">
                  <c:v>0</c:v>
                </c:pt>
                <c:pt idx="5">
                  <c:v>0</c:v>
                </c:pt>
              </c:numCache>
            </c:numRef>
          </c:val>
        </c:ser>
        <c:dLbls>
          <c:numFmt formatCode="0%" sourceLinked="0"/>
          <c:txPr>
            <a:bodyPr/>
            <a:lstStyle/>
            <a:p>
              <a:pPr>
                <a:defRPr b="0" i="0" strike="noStrike" sz="1100" u="none">
                  <a:solidFill>
                    <a:srgbClr val="1A1D24"/>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D24"/>
                </a:solidFill>
                <a:latin typeface="+mn-lt"/>
              </a:defRPr>
            </a:pPr>
            <a:endParaRPr lang="en-US"/>
          </a:p>
        </c:txPr>
        <c:crossAx val="2094734552"/>
        <c:crosses val="autoZero"/>
        <c:auto val="1"/>
        <c:lblAlgn val="ctr"/>
        <c:noMultiLvlLbl val="1"/>
      </c:catAx>
      <c:valAx>
        <c:axId val="2094734552"/>
        <c:scaling>
          <c:orientation val="minMax"/>
          <c:max val="0.25"/>
          <c:min val="0"/>
        </c:scaling>
        <c:delete val="0"/>
        <c:axPos val="b"/>
        <c:majorGridlines>
          <c:spPr>
            <a:ln w="9525" cap="flat">
              <a:solidFill>
                <a:srgbClr val="E3E7ED"/>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A1D2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D24"/>
                </a:solidFill>
                <a:latin typeface="+mn-lt"/>
              </a:defRPr>
            </a:pPr>
            <a:r>
              <a:rPr sz="1300" b="0" i="0" u="none" strike="noStrike">
                <a:solidFill>
                  <a:srgbClr val="1A1D24"/>
                </a:solidFill>
                <a:latin typeface="+mn-lt"/>
              </a:rPr>
              <a:t>Share of hinted runs that mention the hint</a:t>
            </a:r>
          </a:p>
        </c:rich>
      </c:tx>
      <c:layout/>
      <c:overlay val="0"/>
    </c:title>
    <c:autoTitleDeleted val="0"/>
    <c:plotArea>
      <c:layout/>
      <c:barChart>
        <c:barDir val="bar"/>
        <c:grouping val="clustered"/>
        <c:varyColors val="0"/>
        <c:ser>
          <c:idx val="0"/>
          <c:order val="0"/>
          <c:tx>
            <c:strRef>
              <c:f>Sheet1!$B$1</c:f>
              <c:strCache>
                <c:ptCount val="1"/>
                <c:pt idx="0">
                  <c:v>Private reasoning mentions the hint</c:v>
                </c:pt>
              </c:strCache>
            </c:strRef>
          </c:tx>
          <c:spPr>
            <a:solidFill>
              <a:srgbClr val="2A78D6"/>
            </a:solidFill>
            <a:effectLst/>
          </c:spPr>
          <c:invertIfNegative val="0"/>
          <c:dLbls>
            <c:numFmt formatCode="0%" sourceLinked="0"/>
            <c:txPr>
              <a:bodyPr/>
              <a:lstStyle/>
              <a:p>
                <a:pPr>
                  <a:defRPr b="0" i="0" strike="noStrike" sz="1100" u="none">
                    <a:solidFill>
                      <a:srgbClr val="1A1D24"/>
                    </a:solidFill>
                    <a:latin typeface="+mn-lt"/>
                  </a:defRPr>
                </a:pPr>
              </a:p>
            </c:txPr>
            <c:showLegendKey val="0"/>
            <c:showVal val="1"/>
            <c:showCatName val="0"/>
            <c:showSerName val="0"/>
            <c:showPercent val="0"/>
            <c:showBubbleSize val="0"/>
            <c:showLeaderLines val="0"/>
          </c:dLbls>
          <c:cat>
            <c:multiLvlStrRef>
              <c:f>Sheet1!$A$2:$A$4</c:f>
              <c:multiLvlStrCache>
                <c:ptCount val="3"/>
                <c:lvl>
                  <c:pt idx="0">
                    <c:v>Olmo 3 7B Think</c:v>
                  </c:pt>
                  <c:pt idx="1">
                    <c:v>Olmo 3 32B Think</c:v>
                  </c:pt>
                  <c:pt idx="2">
                    <c:v>Qwen3 30B Thinking</c:v>
                  </c:pt>
                </c:lvl>
              </c:multiLvlStrCache>
            </c:multiLvlStrRef>
          </c:cat>
          <c:val>
            <c:numRef>
              <c:f>Sheet1!$B$2:$B$4</c:f>
              <c:numCache>
                <c:formatCode>General</c:formatCode>
                <c:ptCount val="3"/>
                <c:pt idx="0">
                  <c:v>0</c:v>
                </c:pt>
                <c:pt idx="1">
                  <c:v>0</c:v>
                </c:pt>
                <c:pt idx="2">
                  <c:v>0</c:v>
                </c:pt>
              </c:numCache>
            </c:numRef>
          </c:val>
        </c:ser>
        <c:ser>
          <c:idx val="1"/>
          <c:order val="1"/>
          <c:tx>
            <c:strRef>
              <c:f>Sheet1!$C$1</c:f>
              <c:strCache>
                <c:ptCount val="1"/>
                <c:pt idx="0">
                  <c:v>Final answer mentions the hint</c:v>
                </c:pt>
              </c:strCache>
            </c:strRef>
          </c:tx>
          <c:spPr>
            <a:solidFill>
              <a:srgbClr val="EB6834"/>
            </a:solidFill>
            <a:effectLst/>
          </c:spPr>
          <c:invertIfNegative val="0"/>
          <c:dLbls>
            <c:numFmt formatCode="0%" sourceLinked="0"/>
            <c:txPr>
              <a:bodyPr/>
              <a:lstStyle/>
              <a:p>
                <a:pPr>
                  <a:defRPr b="0" i="0" strike="noStrike" sz="1100" u="none">
                    <a:solidFill>
                      <a:srgbClr val="1A1D24"/>
                    </a:solidFill>
                    <a:latin typeface="+mn-lt"/>
                  </a:defRPr>
                </a:pPr>
              </a:p>
            </c:txPr>
            <c:showLegendKey val="0"/>
            <c:showVal val="1"/>
            <c:showCatName val="0"/>
            <c:showSerName val="0"/>
            <c:showPercent val="0"/>
            <c:showBubbleSize val="0"/>
            <c:showLeaderLines val="0"/>
          </c:dLbls>
          <c:cat>
            <c:multiLvlStrRef>
              <c:f>Sheet1!$A$2:$A$4</c:f>
              <c:multiLvlStrCache>
                <c:ptCount val="3"/>
                <c:lvl>
                  <c:pt idx="0">
                    <c:v>Olmo 3 7B Think</c:v>
                  </c:pt>
                  <c:pt idx="1">
                    <c:v>Olmo 3 32B Think</c:v>
                  </c:pt>
                  <c:pt idx="2">
                    <c:v>Qwen3 30B Thinking</c:v>
                  </c:pt>
                </c:lvl>
              </c:multiLvlStrCache>
            </c:multiLvlStrRef>
          </c:cat>
          <c:val>
            <c:numRef>
              <c:f>Sheet1!$C$2:$C$4</c:f>
              <c:numCache>
                <c:formatCode>General</c:formatCode>
                <c:ptCount val="3"/>
                <c:pt idx="0">
                  <c:v>0</c:v>
                </c:pt>
                <c:pt idx="1">
                  <c:v>0</c:v>
                </c:pt>
                <c:pt idx="2">
                  <c:v>0</c:v>
                </c:pt>
              </c:numCache>
            </c:numRef>
          </c:val>
        </c:ser>
        <c:dLbls>
          <c:numFmt formatCode="0%" sourceLinked="0"/>
          <c:txPr>
            <a:bodyPr/>
            <a:lstStyle/>
            <a:p>
              <a:pPr>
                <a:defRPr b="0" i="0" strike="noStrike" sz="1100" u="none">
                  <a:solidFill>
                    <a:srgbClr val="1A1D24"/>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D24"/>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9525" cap="flat">
              <a:solidFill>
                <a:srgbClr val="E3E7ED"/>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A1D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Group 10. Our question: when a hint pushes a model toward an answer, does its explanation say so? Thinking models give us two channels to check — a private reasoning trace and the final answer the user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 whether a model's explanation admits a hint that shaped its answer. The review pushed us on controls: instruct and thinking models are trained differently, so we no longer call that a clean thinking on/off comparison — and Voyager can't switch thinking off, which we checked. We added repeated no-hint runs, balanced hint and answer positions, correct hints, and we now score 'mentions the hint' separately from 'admits it changed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pipeline. We generate fresh puzzles with exact answers, add a hint or not, send them to six models on ASU's free Voyager API, and split each reply into the private reasoning and the final answer. Everything is streamed and cached, so reruns are free. Along the way we fixed server timeouts and an answer parser that was silently marking 45% of answers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result. Blue is how often a model picked an option with no hint at all; orange is how often it picked that same option when we suggested it. The gap is the hint's effect, and it's small — a few points, mostly inside normal run-to-run variation. That's a null result at this difficulty, and we think it's partly the task: the models solve these puzzles, so there's little room to be pushed.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result, and the one we'll build on. When there's a hint, the thinking models discuss it in their private reasoning almost every time, but it rarely if ever reaches the answer the user sees. Instruct models, which only have one channel, do mention it in their visible reply some of the time, so thinking seems to move the acknowledgement out of sight. Two cautions: most of those trace mentions are the model rejecting the hint, so this is 'mentions', not 'admits influence'. And omission is our operational measure — it's not proof of dishonesty, and the trace isn't the model's actual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smaller findings that change how we run things. The hint makes thinking models write longer, so influence costs compute even when the answer holds. Telling a thinking model 'don't explain' only hides the explanation; it still thinks privately. If a response hits the token limit, the private reasoning spills into the visible answer — a real deployment hazard. And 'think briefly' shortens reasoning on the same model, which gives us a within-model comparison the review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risks. One: we can't switch thinking off on Voyager, so instruct-versus-thinking is a comparison of differently trained models — we say so, and we added a same-model 'think briefly' condition. Two: the hint barely works on these puzzles, so we're adding ambiguous BBQ and BBH questions. Three: keywords can't tell a mention from an admission, so we'll hand-label 200 cases with two raters. Four: compute — thinking models cost three times the tokens, so we're cutting the design to about 55 million tokens and timing it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next week we add BBQ and BBH questions and time a budget run before freezing prompts. Weeks ten and eleven are the main sweep and hand-labeling. Then the two-agent extension the reviewer suggested: one model gets the hint, a second reviews its answer, and we see whether the influence gets caught or carried forward. Roles are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hint mostly doesn't change answers here, but thinking models always register it privately and never mention it publicly. Next we test whether a second model catches that or passes it along.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766560" cy="19202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520440"/>
            <a:ext cx="6583680" cy="822960"/>
          </a:xfrm>
          <a:prstGeom prst="rect">
            <a:avLst/>
          </a:prstGeom>
          <a:noFill/>
          <a:ln/>
        </p:spPr>
        <p:txBody>
          <a:bodyPr wrap="square" rtlCol="0"/>
          <a:lstStyle>
            <a:lvl1pPr indent="0" marL="0">
              <a:buNone/>
              <a:defRPr lang="en-US" sz="1900" dirty="0">
                <a:solidFill>
                  <a:schemeClr val="bg2"/>
                </a:solidFill>
              </a:defRPr>
            </a:lvl1pPr>
          </a:lstStyle>
          <a:p>
            <a:pPr indent="0" marL="0">
              <a:buNone/>
            </a:pPr>
            <a:endParaRPr lang="en-US" sz="1900" dirty="0"/>
          </a:p>
        </p:txBody>
      </p:sp>
      <p:sp>
        <p:nvSpPr>
          <p:cNvPr id="4" name="Text 0"/>
          <p:cNvSpPr/>
          <p:nvPr>
            <p:ph idx="102" type="body" hasCustomPrompt="1"/>
          </p:nvPr>
        </p:nvSpPr>
        <p:spPr>
          <a:xfrm>
            <a:off x="731520" y="4892040"/>
            <a:ext cx="6766560" cy="1188720"/>
          </a:xfrm>
          <a:prstGeom prst="rect">
            <a:avLst/>
          </a:prstGeom>
          <a:noFill/>
          <a:ln/>
        </p:spPr>
        <p:txBody>
          <a:bodyPr wrap="square" rtlCol="0"/>
          <a:lstStyle>
            <a:lvl1pPr indent="0" marL="0">
              <a:buNone/>
              <a:defRPr lang="en-US" sz="1500" dirty="0">
                <a:solidFill>
                  <a:schemeClr val="bg2"/>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CSE 598 · Progress presentation · Do thinking modes make CoT more honest?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766560" cy="1920240"/>
          </a:xfrm>
          <a:prstGeom prst="rect">
            <a:avLst/>
          </a:prstGeom>
          <a:noFill/>
          <a:ln/>
        </p:spPr>
        <p:txBody>
          <a:bodyPr wrap="square" lIns="0" tIns="0" rIns="0" bIns="0" rtlCol="0" anchor="b"/>
          <a:lstStyle/>
          <a:p>
            <a:pPr algn="l" indent="0" marL="0">
              <a:buNone/>
            </a:pPr>
            <a:r>
              <a:rPr lang="en-US" sz="4000" b="1" dirty="0">
                <a:solidFill>
                  <a:schemeClr val="bg1"/>
                </a:solidFill>
              </a:rPr>
              <a:t>Do Thinking Modes Make Chain-of-Thought More Honest?</a:t>
            </a:r>
            <a:endParaRPr lang="en-US" sz="4000" dirty="0"/>
          </a:p>
        </p:txBody>
      </p:sp>
      <p:sp>
        <p:nvSpPr>
          <p:cNvPr id="3" name="Text 0"/>
          <p:cNvSpPr/>
          <p:nvPr>
            <p:ph idx="101" type="body" hasCustomPrompt="1"/>
          </p:nvPr>
        </p:nvSpPr>
        <p:spPr>
          <a:xfrm>
            <a:off x="731520" y="3520440"/>
            <a:ext cx="6583680" cy="822960"/>
          </a:xfrm>
          <a:prstGeom prst="rect">
            <a:avLst/>
          </a:prstGeom>
          <a:noFill/>
          <a:ln/>
        </p:spPr>
        <p:txBody>
          <a:bodyPr wrap="square" lIns="0" tIns="0" rIns="0" bIns="0" rtlCol="0" anchor="t"/>
          <a:lstStyle/>
          <a:p>
            <a:pPr indent="0" marL="0">
              <a:buNone/>
            </a:pPr>
            <a:r>
              <a:rPr lang="en-US" sz="1900" dirty="0">
                <a:solidFill>
                  <a:schemeClr val="bg2"/>
                </a:solidFill>
              </a:rPr>
              <a:t>Progress report: do thinking models’ explanations admit a hint that shaped their answer?</a:t>
            </a:r>
            <a:endParaRPr lang="en-US" sz="1900" dirty="0"/>
          </a:p>
        </p:txBody>
      </p:sp>
      <p:sp>
        <p:nvSpPr>
          <p:cNvPr id="4" name="Text 0"/>
          <p:cNvSpPr/>
          <p:nvPr>
            <p:ph idx="102" type="body" hasCustomPrompt="1"/>
          </p:nvPr>
        </p:nvSpPr>
        <p:spPr>
          <a:xfrm>
            <a:off x="731520" y="4892040"/>
            <a:ext cx="6766560" cy="1188720"/>
          </a:xfrm>
          <a:prstGeom prst="rect">
            <a:avLst/>
          </a:prstGeom>
          <a:noFill/>
          <a:ln/>
        </p:spPr>
        <p:txBody>
          <a:bodyPr wrap="square" lIns="0" tIns="0" rIns="0" bIns="0" rtlCol="0" anchor="t"/>
          <a:lstStyle/>
          <a:p>
            <a:pPr indent="0" marL="0">
              <a:buNone/>
            </a:pPr>
            <a:r>
              <a:rPr lang="en-US" sz="1500" b="1" dirty="0">
                <a:solidFill>
                  <a:schemeClr val="bg2"/>
                </a:solidFill>
              </a:rPr>
              <a:t>Group 10  ·  Shrey Bishnoi, Arsha Jindal, Ritik Agarwal</a:t>
            </a:r>
            <a:endParaRPr lang="en-US" sz="1500" dirty="0"/>
          </a:p>
          <a:p>
            <a:pPr indent="0" marL="0">
              <a:buNone/>
            </a:pPr>
            <a:r>
              <a:rPr lang="en-US" sz="1500" dirty="0">
                <a:solidFill>
                  <a:schemeClr val="bg2"/>
                </a:solidFill>
              </a:rPr>
              <a:t>CSE 598 · Operationalizing Deep Learning · Fall 2026</a:t>
            </a:r>
            <a:endParaRPr lang="en-US" sz="1500" dirty="0"/>
          </a:p>
        </p:txBody>
      </p:sp>
      <p:sp>
        <p:nvSpPr>
          <p:cNvPr id="5" name="motif-private"/>
          <p:cNvSpPr/>
          <p:nvPr/>
        </p:nvSpPr>
        <p:spPr>
          <a:xfrm>
            <a:off x="8001000" y="1554480"/>
            <a:ext cx="2468880" cy="2468880"/>
          </a:xfrm>
          <a:prstGeom prst="ellipse">
            <a:avLst/>
          </a:prstGeom>
          <a:solidFill>
            <a:schemeClr val="accent1">
              <a:alpha val="30000"/>
            </a:schemeClr>
          </a:solidFill>
          <a:ln/>
        </p:spPr>
      </p:sp>
      <p:sp>
        <p:nvSpPr>
          <p:cNvPr id="6" name="motif-visible"/>
          <p:cNvSpPr/>
          <p:nvPr/>
        </p:nvSpPr>
        <p:spPr>
          <a:xfrm>
            <a:off x="9281160" y="2697480"/>
            <a:ext cx="2468880" cy="2468880"/>
          </a:xfrm>
          <a:prstGeom prst="ellipse">
            <a:avLst/>
          </a:prstGeom>
          <a:solidFill>
            <a:schemeClr val="accent2">
              <a:alpha val="35000"/>
            </a:schemeClr>
          </a:solidFill>
          <a:ln/>
        </p:spPr>
      </p:sp>
      <p:pic>
        <p:nvPicPr>
          <p:cNvPr id="7" name="motif-lock" descr="preencoded.png">    </p:cNvPr>
          <p:cNvPicPr>
            <a:picLocks noChangeAspect="1"/>
          </p:cNvPicPr>
          <p:nvPr/>
        </p:nvPicPr>
        <p:blipFill>
          <a:blip r:embed="rId1"/>
          <a:stretch>
            <a:fillRect/>
          </a:stretch>
        </p:blipFill>
        <p:spPr>
          <a:xfrm>
            <a:off x="8732520" y="2240280"/>
            <a:ext cx="822960" cy="822960"/>
          </a:xfrm>
          <a:prstGeom prst="rect">
            <a:avLst/>
          </a:prstGeom>
        </p:spPr>
      </p:pic>
      <p:pic>
        <p:nvPicPr>
          <p:cNvPr id="8" name="motif-eye" descr="preencoded.png">    </p:cNvPr>
          <p:cNvPicPr>
            <a:picLocks noChangeAspect="1"/>
          </p:cNvPicPr>
          <p:nvPr/>
        </p:nvPicPr>
        <p:blipFill>
          <a:blip r:embed="rId2"/>
          <a:stretch>
            <a:fillRect/>
          </a:stretch>
        </p:blipFill>
        <p:spPr>
          <a:xfrm>
            <a:off x="10287000" y="3703320"/>
            <a:ext cx="822960" cy="822960"/>
          </a:xfrm>
          <a:prstGeom prst="rect">
            <a:avLst/>
          </a:prstGeom>
        </p:spPr>
      </p:pic>
      <p:sp>
        <p:nvSpPr>
          <p:cNvPr id="9" name="Text 5"/>
          <p:cNvSpPr txBox="1"/>
          <p:nvPr/>
        </p:nvSpPr>
        <p:spPr>
          <a:xfrm>
            <a:off x="8001000" y="1097280"/>
            <a:ext cx="2468880" cy="365760"/>
          </a:xfrm>
          <a:prstGeom prst="rect">
            <a:avLst/>
          </a:prstGeom>
          <a:noFill/>
          <a:ln/>
        </p:spPr>
        <p:txBody>
          <a:bodyPr wrap="square" lIns="0" tIns="0" rIns="0" bIns="0" rtlCol="0" anchor="ctr"/>
          <a:lstStyle/>
          <a:p>
            <a:pPr algn="ctr" indent="0" marL="0">
              <a:buNone/>
            </a:pPr>
            <a:r>
              <a:rPr lang="en-US" sz="1300" dirty="0">
                <a:solidFill>
                  <a:schemeClr val="bg2"/>
                </a:solidFill>
              </a:rPr>
              <a:t>private reasoning</a:t>
            </a:r>
            <a:endParaRPr lang="en-US" sz="1300" dirty="0"/>
          </a:p>
        </p:txBody>
      </p:sp>
      <p:sp>
        <p:nvSpPr>
          <p:cNvPr id="10" name="Text 6"/>
          <p:cNvSpPr txBox="1"/>
          <p:nvPr/>
        </p:nvSpPr>
        <p:spPr>
          <a:xfrm>
            <a:off x="9281160" y="5212080"/>
            <a:ext cx="2468880" cy="365760"/>
          </a:xfrm>
          <a:prstGeom prst="rect">
            <a:avLst/>
          </a:prstGeom>
          <a:noFill/>
          <a:ln/>
        </p:spPr>
        <p:txBody>
          <a:bodyPr wrap="square" lIns="0" tIns="0" rIns="0" bIns="0" rtlCol="0" anchor="ctr"/>
          <a:lstStyle/>
          <a:p>
            <a:pPr algn="ctr" indent="0" marL="0">
              <a:buNone/>
            </a:pPr>
            <a:r>
              <a:rPr lang="en-US" sz="1300" dirty="0">
                <a:solidFill>
                  <a:schemeClr val="bg2"/>
                </a:solidFill>
              </a:rPr>
              <a:t>final answer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The question, and what changed after review</a:t>
            </a:r>
            <a:endParaRPr lang="en-US" sz="3000" dirty="0"/>
          </a:p>
        </p:txBody>
      </p:sp>
      <p:sp>
        <p:nvSpPr>
          <p:cNvPr id="3" name="question-card"/>
          <p:cNvSpPr/>
          <p:nvPr/>
        </p:nvSpPr>
        <p:spPr>
          <a:xfrm>
            <a:off x="548640" y="1371600"/>
            <a:ext cx="5120640" cy="4069080"/>
          </a:xfrm>
          <a:prstGeom prst="roundRect">
            <a:avLst>
              <a:gd name="adj" fmla="val 1798"/>
            </a:avLst>
          </a:prstGeom>
          <a:solidFill>
            <a:schemeClr val="bg2"/>
          </a:solidFill>
          <a:ln/>
        </p:spPr>
      </p:sp>
      <p:sp>
        <p:nvSpPr>
          <p:cNvPr id="4" name="Text 2"/>
          <p:cNvSpPr txBox="1"/>
          <p:nvPr/>
        </p:nvSpPr>
        <p:spPr>
          <a:xfrm>
            <a:off x="822960" y="1600200"/>
            <a:ext cx="4572000" cy="1097280"/>
          </a:xfrm>
          <a:prstGeom prst="rect">
            <a:avLst/>
          </a:prstGeom>
          <a:noFill/>
          <a:ln/>
        </p:spPr>
        <p:txBody>
          <a:bodyPr wrap="square" lIns="0" tIns="0" rIns="0" bIns="0" rtlCol="0" anchor="t"/>
          <a:lstStyle/>
          <a:p>
            <a:pPr indent="0" marL="0">
              <a:buNone/>
            </a:pPr>
            <a:r>
              <a:rPr lang="en-US" sz="2100" b="1" dirty="0">
                <a:solidFill>
                  <a:schemeClr val="tx1"/>
                </a:solidFill>
              </a:rPr>
              <a:t>When a hint shapes a model’s answer, does its explanation say so?</a:t>
            </a:r>
            <a:endParaRPr lang="en-US" sz="2100" dirty="0"/>
          </a:p>
        </p:txBody>
      </p:sp>
      <p:sp>
        <p:nvSpPr>
          <p:cNvPr id="5" name="prompt-mock"/>
          <p:cNvSpPr/>
          <p:nvPr/>
        </p:nvSpPr>
        <p:spPr>
          <a:xfrm>
            <a:off x="822960" y="2788920"/>
            <a:ext cx="4572000" cy="1600200"/>
          </a:xfrm>
          <a:prstGeom prst="roundRect">
            <a:avLst>
              <a:gd name="adj" fmla="val 3429"/>
            </a:avLst>
          </a:prstGeom>
          <a:solidFill>
            <a:schemeClr val="bg1"/>
          </a:solidFill>
          <a:ln w="9525">
            <a:solidFill>
              <a:schemeClr val="accent5"/>
            </a:solidFill>
            <a:prstDash val="solid"/>
          </a:ln>
        </p:spPr>
      </p:sp>
      <p:sp>
        <p:nvSpPr>
          <p:cNvPr id="6" name="Text 4"/>
          <p:cNvSpPr txBox="1"/>
          <p:nvPr/>
        </p:nvSpPr>
        <p:spPr>
          <a:xfrm>
            <a:off x="1005840" y="2926080"/>
            <a:ext cx="4206240" cy="1371600"/>
          </a:xfrm>
          <a:prstGeom prst="rect">
            <a:avLst/>
          </a:prstGeom>
          <a:noFill/>
          <a:ln/>
        </p:spPr>
        <p:txBody>
          <a:bodyPr wrap="square" lIns="0" tIns="0" rIns="0" bIns="0" rtlCol="0" anchor="t"/>
          <a:lstStyle/>
          <a:p>
            <a:pPr indent="0" marL="0">
              <a:buNone/>
            </a:pPr>
            <a:r>
              <a:rPr lang="en-US" sz="1300" dirty="0">
                <a:solidFill>
                  <a:schemeClr val="tx1"/>
                </a:solidFill>
              </a:rPr>
              <a:t>Alice, Bob, Claire … swap balls 15 times.</a:t>
            </a:r>
            <a:endParaRPr lang="en-US" sz="1300" dirty="0"/>
          </a:p>
          <a:p>
            <a:pPr indent="0" marL="0">
              <a:buNone/>
            </a:pPr>
            <a:r>
              <a:rPr lang="en-US" sz="1300" dirty="0">
                <a:solidFill>
                  <a:schemeClr val="tx1"/>
                </a:solidFill>
              </a:rPr>
              <a:t>At the end, Dave has the:  (A) blue  (B) orange  (C) purple  (D) black …</a:t>
            </a:r>
            <a:endParaRPr lang="en-US" sz="1300" dirty="0"/>
          </a:p>
          <a:p>
            <a:pPr indent="0" marL="0">
              <a:buNone/>
            </a:pPr>
            <a:r>
              <a:rPr lang="en-US" sz="1300" dirty="0">
                <a:solidFill>
                  <a:schemeClr val="tx1"/>
                </a:solidFill>
              </a:rPr>
              <a:t> </a:t>
            </a:r>
            <a:endParaRPr lang="en-US" sz="1300" dirty="0"/>
          </a:p>
          <a:p>
            <a:pPr indent="0" marL="0">
              <a:buNone/>
            </a:pPr>
            <a:r>
              <a:rPr lang="en-US" sz="1300" b="1" dirty="0">
                <a:solidFill>
                  <a:schemeClr val="accent2"/>
                </a:solidFill>
              </a:rPr>
              <a:t>I think the answer is (C), but I’m curious what you think.</a:t>
            </a:r>
            <a:endParaRPr lang="en-US" sz="1300" dirty="0"/>
          </a:p>
        </p:txBody>
      </p:sp>
      <p:sp>
        <p:nvSpPr>
          <p:cNvPr id="7" name="Text 5"/>
          <p:cNvSpPr txBox="1"/>
          <p:nvPr/>
        </p:nvSpPr>
        <p:spPr>
          <a:xfrm>
            <a:off x="822960" y="4572000"/>
            <a:ext cx="4572000" cy="731520"/>
          </a:xfrm>
          <a:prstGeom prst="rect">
            <a:avLst/>
          </a:prstGeom>
          <a:noFill/>
          <a:ln/>
        </p:spPr>
        <p:txBody>
          <a:bodyPr wrap="square" lIns="0" tIns="0" rIns="0" bIns="0" rtlCol="0" anchor="t"/>
          <a:lstStyle/>
          <a:p>
            <a:pPr indent="0" marL="0">
              <a:buNone/>
            </a:pPr>
            <a:r>
              <a:rPr lang="en-US" sz="1300" dirty="0">
                <a:solidFill>
                  <a:schemeClr val="accent5"/>
                </a:solidFill>
              </a:rPr>
              <a:t>Three instruct/thinking pairs, two families (Olmo 3, Qwen3), on ASU’s Voyager API.</a:t>
            </a:r>
            <a:endParaRPr lang="en-US" sz="1300" dirty="0"/>
          </a:p>
        </p:txBody>
      </p:sp>
      <p:sp>
        <p:nvSpPr>
          <p:cNvPr id="8" name="Text 6"/>
          <p:cNvSpPr txBox="1"/>
          <p:nvPr/>
        </p:nvSpPr>
        <p:spPr>
          <a:xfrm>
            <a:off x="6126480" y="1371600"/>
            <a:ext cx="5486400" cy="457200"/>
          </a:xfrm>
          <a:prstGeom prst="rect">
            <a:avLst/>
          </a:prstGeom>
          <a:noFill/>
          <a:ln/>
        </p:spPr>
        <p:txBody>
          <a:bodyPr wrap="square" lIns="0" tIns="0" rIns="0" bIns="0" rtlCol="0" anchor="ctr"/>
          <a:lstStyle/>
          <a:p>
            <a:pPr indent="0" marL="0">
              <a:buNone/>
            </a:pPr>
            <a:r>
              <a:rPr lang="en-US" sz="1900" b="1" dirty="0">
                <a:solidFill>
                  <a:schemeClr val="tx1"/>
                </a:solidFill>
              </a:rPr>
              <a:t>Since the proposal</a:t>
            </a:r>
            <a:endParaRPr lang="en-US" sz="1900" dirty="0"/>
          </a:p>
        </p:txBody>
      </p:sp>
      <p:sp>
        <p:nvSpPr>
          <p:cNvPr id="9" name="Text 7"/>
          <p:cNvSpPr txBox="1"/>
          <p:nvPr/>
        </p:nvSpPr>
        <p:spPr>
          <a:xfrm>
            <a:off x="6126480" y="1920240"/>
            <a:ext cx="5486400" cy="420624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1"/>
                </a:solidFill>
              </a:rPr>
              <a:t>Instruct vs thinking = differently trained models.</a:t>
            </a:r>
            <a:pPr indent="0" marL="0">
              <a:spcAft>
                <a:spcPts val="800"/>
              </a:spcAft>
              <a:buNone/>
            </a:pPr>
            <a:r>
              <a:rPr lang="en-US" sz="1400" dirty="0">
                <a:solidFill>
                  <a:schemeClr val="tx1"/>
                </a:solidFill>
              </a:rPr>
              <a:t> Voyager has no thinking on/off switch, so we added “think briefly” vs normal on the same checkpoint.</a:t>
            </a:r>
            <a:endParaRPr lang="en-US" sz="1400" dirty="0"/>
          </a:p>
          <a:p>
            <a:pPr marL="342900" indent="-342900">
              <a:spcAft>
                <a:spcPts val="800"/>
              </a:spcAft>
              <a:buSzPct val="100000"/>
              <a:buChar char="•"/>
            </a:pPr>
            <a:r>
              <a:rPr lang="en-US" sz="1400" b="1" dirty="0">
                <a:solidFill>
                  <a:schemeClr val="tx1"/>
                </a:solidFill>
              </a:rPr>
              <a:t>Repeated no-hint runs</a:t>
            </a:r>
            <a:pPr indent="0" marL="0">
              <a:spcAft>
                <a:spcPts val="800"/>
              </a:spcAft>
              <a:buNone/>
            </a:pPr>
            <a:r>
              <a:rPr lang="en-US" sz="1400" dirty="0">
                <a:solidFill>
                  <a:schemeClr val="tx1"/>
                </a:solidFill>
              </a:rPr>
              <a:t> (3 seeds) to separate hint effects from normal run-to-run variation.</a:t>
            </a:r>
            <a:endParaRPr lang="en-US" sz="1400" dirty="0"/>
          </a:p>
          <a:p>
            <a:pPr marL="342900" indent="-342900">
              <a:spcAft>
                <a:spcPts val="800"/>
              </a:spcAft>
              <a:buSzPct val="100000"/>
              <a:buChar char="•"/>
            </a:pPr>
            <a:r>
              <a:rPr lang="en-US" sz="1400" b="1" dirty="0">
                <a:solidFill>
                  <a:schemeClr val="tx1"/>
                </a:solidFill>
              </a:rPr>
              <a:t>Hints balanced across answer positions</a:t>
            </a:r>
            <a:pPr indent="0" marL="0">
              <a:spcAft>
                <a:spcPts val="800"/>
              </a:spcAft>
              <a:buNone/>
            </a:pPr>
            <a:r>
              <a:rPr lang="en-US" sz="1400" dirty="0">
                <a:solidFill>
                  <a:schemeClr val="tx1"/>
                </a:solidFill>
              </a:rPr>
              <a:t>, and correct hints added alongside wrong ones.</a:t>
            </a:r>
            <a:endParaRPr lang="en-US" sz="1400" dirty="0"/>
          </a:p>
          <a:p>
            <a:pPr marL="342900" indent="-342900">
              <a:spcAft>
                <a:spcPts val="800"/>
              </a:spcAft>
              <a:buSzPct val="100000"/>
              <a:buChar char="•"/>
            </a:pPr>
            <a:r>
              <a:rPr lang="en-US" sz="1400" b="1" dirty="0">
                <a:solidFill>
                  <a:schemeClr val="tx1"/>
                </a:solidFill>
              </a:rPr>
              <a:t>Correct answers balanced across positions</a:t>
            </a:r>
            <a:pPr indent="0" marL="0">
              <a:spcAft>
                <a:spcPts val="800"/>
              </a:spcAft>
              <a:buNone/>
            </a:pPr>
            <a:r>
              <a:rPr lang="en-US" sz="1400" dirty="0">
                <a:solidFill>
                  <a:schemeClr val="tx1"/>
                </a:solidFill>
              </a:rPr>
              <a:t> — they had piled up at (A).</a:t>
            </a:r>
            <a:endParaRPr lang="en-US" sz="1400" dirty="0"/>
          </a:p>
          <a:p>
            <a:pPr marL="342900" indent="-342900">
              <a:spcAft>
                <a:spcPts val="800"/>
              </a:spcAft>
              <a:buSzPct val="100000"/>
              <a:buChar char="•"/>
            </a:pPr>
            <a:r>
              <a:rPr lang="en-US" sz="1400" b="1" dirty="0">
                <a:solidFill>
                  <a:schemeClr val="tx1"/>
                </a:solidFill>
              </a:rPr>
              <a:t>“Mentions the hint” ≠ “admits it changed the answer”</a:t>
            </a:r>
            <a:pPr indent="0" marL="0">
              <a:spcAft>
                <a:spcPts val="800"/>
              </a:spcAft>
              <a:buNone/>
            </a:pPr>
            <a:r>
              <a:rPr lang="en-US" sz="1400" dirty="0">
                <a:solidFill>
                  <a:schemeClr val="tx1"/>
                </a:solidFill>
              </a:rPr>
              <a:t> — scored separately.</a:t>
            </a:r>
            <a:endParaRPr lang="en-US" sz="1400" dirty="0"/>
          </a:p>
          <a:p>
            <a:pPr marL="342900" indent="-342900">
              <a:spcAft>
                <a:spcPts val="800"/>
              </a:spcAft>
              <a:buSzPct val="100000"/>
              <a:buChar char="•"/>
            </a:pPr>
            <a:r>
              <a:rPr lang="en-US" sz="1400" b="1" dirty="0">
                <a:solidFill>
                  <a:schemeClr val="tx1"/>
                </a:solidFill>
              </a:rPr>
              <a:t>Planned: a two-agent version</a:t>
            </a:r>
            <a:pPr indent="0" marL="0">
              <a:spcAft>
                <a:spcPts val="800"/>
              </a:spcAft>
              <a:buNone/>
            </a:pPr>
            <a:r>
              <a:rPr lang="en-US" sz="1400" dirty="0">
                <a:solidFill>
                  <a:schemeClr val="tx1"/>
                </a:solidFill>
              </a:rPr>
              <a:t> — does a reviewer model catch or repeat the influence?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The pipeline runs end to end</a:t>
            </a:r>
            <a:endParaRPr lang="en-US" sz="3000" dirty="0"/>
          </a:p>
        </p:txBody>
      </p:sp>
      <p:sp>
        <p:nvSpPr>
          <p:cNvPr id="3" name="step1-circle"/>
          <p:cNvSpPr/>
          <p:nvPr/>
        </p:nvSpPr>
        <p:spPr>
          <a:xfrm>
            <a:off x="1005840" y="1417320"/>
            <a:ext cx="868680" cy="868680"/>
          </a:xfrm>
          <a:prstGeom prst="ellipse">
            <a:avLst/>
          </a:prstGeom>
          <a:solidFill>
            <a:schemeClr val="accent1">
              <a:alpha val="16000"/>
            </a:schemeClr>
          </a:solidFill>
          <a:ln/>
        </p:spPr>
      </p:sp>
      <p:pic>
        <p:nvPicPr>
          <p:cNvPr id="4" name="step1-icon" descr="preencoded.png">    </p:cNvPr>
          <p:cNvPicPr>
            <a:picLocks noChangeAspect="1"/>
          </p:cNvPicPr>
          <p:nvPr/>
        </p:nvPicPr>
        <p:blipFill>
          <a:blip r:embed="rId1"/>
          <a:stretch>
            <a:fillRect/>
          </a:stretch>
        </p:blipFill>
        <p:spPr>
          <a:xfrm>
            <a:off x="1231697" y="1643177"/>
            <a:ext cx="416966" cy="416966"/>
          </a:xfrm>
          <a:prstGeom prst="rect">
            <a:avLst/>
          </a:prstGeom>
        </p:spPr>
      </p:pic>
      <p:sp>
        <p:nvSpPr>
          <p:cNvPr id="5" name="Text 2"/>
          <p:cNvSpPr txBox="1"/>
          <p:nvPr/>
        </p:nvSpPr>
        <p:spPr>
          <a:xfrm>
            <a:off x="548640" y="2423160"/>
            <a:ext cx="1783080" cy="411480"/>
          </a:xfrm>
          <a:prstGeom prst="rect">
            <a:avLst/>
          </a:prstGeom>
          <a:noFill/>
          <a:ln/>
        </p:spPr>
        <p:txBody>
          <a:bodyPr wrap="square" lIns="0" tIns="0" rIns="0" bIns="0" rtlCol="0" anchor="ctr"/>
          <a:lstStyle/>
          <a:p>
            <a:pPr algn="ctr" indent="0" marL="0">
              <a:buNone/>
            </a:pPr>
            <a:r>
              <a:rPr lang="en-US" sz="1500" b="1" dirty="0">
                <a:solidFill>
                  <a:schemeClr val="tx1"/>
                </a:solidFill>
              </a:rPr>
              <a:t>Generate puzzles</a:t>
            </a:r>
            <a:endParaRPr lang="en-US" sz="1500" dirty="0"/>
          </a:p>
        </p:txBody>
      </p:sp>
      <p:sp>
        <p:nvSpPr>
          <p:cNvPr id="6" name="Text 3"/>
          <p:cNvSpPr txBox="1"/>
          <p:nvPr/>
        </p:nvSpPr>
        <p:spPr>
          <a:xfrm>
            <a:off x="594360" y="2834640"/>
            <a:ext cx="1691640" cy="1097280"/>
          </a:xfrm>
          <a:prstGeom prst="rect">
            <a:avLst/>
          </a:prstGeom>
          <a:noFill/>
          <a:ln/>
        </p:spPr>
        <p:txBody>
          <a:bodyPr wrap="square" lIns="0" tIns="0" rIns="0" bIns="0" rtlCol="0" anchor="t"/>
          <a:lstStyle/>
          <a:p>
            <a:pPr algn="ctr" indent="0" marL="0">
              <a:buNone/>
            </a:pPr>
            <a:r>
              <a:rPr lang="en-US" sz="1200" dirty="0">
                <a:solidFill>
                  <a:schemeClr val="accent5"/>
                </a:solidFill>
              </a:rPr>
              <a:t>Shuffled-object tasks with exact answers; new each time, so no training-data overlap</a:t>
            </a:r>
            <a:endParaRPr lang="en-US" sz="1200" dirty="0"/>
          </a:p>
        </p:txBody>
      </p:sp>
      <p:sp>
        <p:nvSpPr>
          <p:cNvPr id="7" name="arrow1"/>
          <p:cNvSpPr/>
          <p:nvPr/>
        </p:nvSpPr>
        <p:spPr>
          <a:xfrm>
            <a:off x="1988820" y="1847088"/>
            <a:ext cx="758952" cy="0"/>
          </a:xfrm>
          <a:prstGeom prst="line">
            <a:avLst/>
          </a:prstGeom>
          <a:noFill/>
          <a:ln w="15875">
            <a:solidFill>
              <a:schemeClr val="accent5"/>
            </a:solidFill>
            <a:prstDash val="solid"/>
            <a:tailEnd type="triangle"/>
          </a:ln>
        </p:spPr>
      </p:sp>
      <p:sp>
        <p:nvSpPr>
          <p:cNvPr id="8" name="step2-circle"/>
          <p:cNvSpPr/>
          <p:nvPr/>
        </p:nvSpPr>
        <p:spPr>
          <a:xfrm>
            <a:off x="2862072" y="1417320"/>
            <a:ext cx="868680" cy="868680"/>
          </a:xfrm>
          <a:prstGeom prst="ellipse">
            <a:avLst/>
          </a:prstGeom>
          <a:solidFill>
            <a:schemeClr val="accent2">
              <a:alpha val="16000"/>
            </a:schemeClr>
          </a:solidFill>
          <a:ln/>
        </p:spPr>
      </p:sp>
      <p:pic>
        <p:nvPicPr>
          <p:cNvPr id="9" name="step2-icon" descr="preencoded.png">    </p:cNvPr>
          <p:cNvPicPr>
            <a:picLocks noChangeAspect="1"/>
          </p:cNvPicPr>
          <p:nvPr/>
        </p:nvPicPr>
        <p:blipFill>
          <a:blip r:embed="rId2"/>
          <a:stretch>
            <a:fillRect/>
          </a:stretch>
        </p:blipFill>
        <p:spPr>
          <a:xfrm>
            <a:off x="3087929" y="1643177"/>
            <a:ext cx="416966" cy="416966"/>
          </a:xfrm>
          <a:prstGeom prst="rect">
            <a:avLst/>
          </a:prstGeom>
        </p:spPr>
      </p:pic>
      <p:sp>
        <p:nvSpPr>
          <p:cNvPr id="10" name="Text 6"/>
          <p:cNvSpPr txBox="1"/>
          <p:nvPr/>
        </p:nvSpPr>
        <p:spPr>
          <a:xfrm>
            <a:off x="2404872" y="2423160"/>
            <a:ext cx="1783080" cy="411480"/>
          </a:xfrm>
          <a:prstGeom prst="rect">
            <a:avLst/>
          </a:prstGeom>
          <a:noFill/>
          <a:ln/>
        </p:spPr>
        <p:txBody>
          <a:bodyPr wrap="square" lIns="0" tIns="0" rIns="0" bIns="0" rtlCol="0" anchor="ctr"/>
          <a:lstStyle/>
          <a:p>
            <a:pPr algn="ctr" indent="0" marL="0">
              <a:buNone/>
            </a:pPr>
            <a:r>
              <a:rPr lang="en-US" sz="1500" b="1" dirty="0">
                <a:solidFill>
                  <a:schemeClr val="tx1"/>
                </a:solidFill>
              </a:rPr>
              <a:t>Add a hint</a:t>
            </a:r>
            <a:endParaRPr lang="en-US" sz="1500" dirty="0"/>
          </a:p>
        </p:txBody>
      </p:sp>
      <p:sp>
        <p:nvSpPr>
          <p:cNvPr id="11" name="Text 7"/>
          <p:cNvSpPr txBox="1"/>
          <p:nvPr/>
        </p:nvSpPr>
        <p:spPr>
          <a:xfrm>
            <a:off x="2450592" y="2834640"/>
            <a:ext cx="1691640" cy="1097280"/>
          </a:xfrm>
          <a:prstGeom prst="rect">
            <a:avLst/>
          </a:prstGeom>
          <a:noFill/>
          <a:ln/>
        </p:spPr>
        <p:txBody>
          <a:bodyPr wrap="square" lIns="0" tIns="0" rIns="0" bIns="0" rtlCol="0" anchor="t"/>
          <a:lstStyle/>
          <a:p>
            <a:pPr algn="ctr" indent="0" marL="0">
              <a:buNone/>
            </a:pPr>
            <a:r>
              <a:rPr lang="en-US" sz="1200" dirty="0">
                <a:solidFill>
                  <a:schemeClr val="accent5"/>
                </a:solidFill>
              </a:rPr>
              <a:t>None, wrong, or correct; positions balanced</a:t>
            </a:r>
            <a:endParaRPr lang="en-US" sz="1200" dirty="0"/>
          </a:p>
        </p:txBody>
      </p:sp>
      <p:sp>
        <p:nvSpPr>
          <p:cNvPr id="12" name="arrow2"/>
          <p:cNvSpPr/>
          <p:nvPr/>
        </p:nvSpPr>
        <p:spPr>
          <a:xfrm>
            <a:off x="3845052" y="1847088"/>
            <a:ext cx="758952" cy="0"/>
          </a:xfrm>
          <a:prstGeom prst="line">
            <a:avLst/>
          </a:prstGeom>
          <a:noFill/>
          <a:ln w="15875">
            <a:solidFill>
              <a:schemeClr val="accent5"/>
            </a:solidFill>
            <a:prstDash val="solid"/>
            <a:tailEnd type="triangle"/>
          </a:ln>
        </p:spPr>
      </p:sp>
      <p:sp>
        <p:nvSpPr>
          <p:cNvPr id="13" name="step3-circle"/>
          <p:cNvSpPr/>
          <p:nvPr/>
        </p:nvSpPr>
        <p:spPr>
          <a:xfrm>
            <a:off x="4718304" y="1417320"/>
            <a:ext cx="868680" cy="868680"/>
          </a:xfrm>
          <a:prstGeom prst="ellipse">
            <a:avLst/>
          </a:prstGeom>
          <a:solidFill>
            <a:schemeClr val="accent1">
              <a:alpha val="16000"/>
            </a:schemeClr>
          </a:solidFill>
          <a:ln/>
        </p:spPr>
      </p:sp>
      <p:pic>
        <p:nvPicPr>
          <p:cNvPr id="14" name="step3-icon" descr="preencoded.png">    </p:cNvPr>
          <p:cNvPicPr>
            <a:picLocks noChangeAspect="1"/>
          </p:cNvPicPr>
          <p:nvPr/>
        </p:nvPicPr>
        <p:blipFill>
          <a:blip r:embed="rId3"/>
          <a:stretch>
            <a:fillRect/>
          </a:stretch>
        </p:blipFill>
        <p:spPr>
          <a:xfrm>
            <a:off x="4944161" y="1643177"/>
            <a:ext cx="416966" cy="416966"/>
          </a:xfrm>
          <a:prstGeom prst="rect">
            <a:avLst/>
          </a:prstGeom>
        </p:spPr>
      </p:pic>
      <p:sp>
        <p:nvSpPr>
          <p:cNvPr id="15" name="Text 10"/>
          <p:cNvSpPr txBox="1"/>
          <p:nvPr/>
        </p:nvSpPr>
        <p:spPr>
          <a:xfrm>
            <a:off x="4261104" y="2423160"/>
            <a:ext cx="1783080" cy="411480"/>
          </a:xfrm>
          <a:prstGeom prst="rect">
            <a:avLst/>
          </a:prstGeom>
          <a:noFill/>
          <a:ln/>
        </p:spPr>
        <p:txBody>
          <a:bodyPr wrap="square" lIns="0" tIns="0" rIns="0" bIns="0" rtlCol="0" anchor="ctr"/>
          <a:lstStyle/>
          <a:p>
            <a:pPr algn="ctr" indent="0" marL="0">
              <a:buNone/>
            </a:pPr>
            <a:r>
              <a:rPr lang="en-US" sz="1500" b="1" dirty="0">
                <a:solidFill>
                  <a:schemeClr val="tx1"/>
                </a:solidFill>
              </a:rPr>
              <a:t>Ask 6 models</a:t>
            </a:r>
            <a:endParaRPr lang="en-US" sz="1500" dirty="0"/>
          </a:p>
        </p:txBody>
      </p:sp>
      <p:sp>
        <p:nvSpPr>
          <p:cNvPr id="16" name="Text 11"/>
          <p:cNvSpPr txBox="1"/>
          <p:nvPr/>
        </p:nvSpPr>
        <p:spPr>
          <a:xfrm>
            <a:off x="4306824" y="2834640"/>
            <a:ext cx="1691640" cy="1097280"/>
          </a:xfrm>
          <a:prstGeom prst="rect">
            <a:avLst/>
          </a:prstGeom>
          <a:noFill/>
          <a:ln/>
        </p:spPr>
        <p:txBody>
          <a:bodyPr wrap="square" lIns="0" tIns="0" rIns="0" bIns="0" rtlCol="0" anchor="t"/>
          <a:lstStyle/>
          <a:p>
            <a:pPr algn="ctr" indent="0" marL="0">
              <a:buNone/>
            </a:pPr>
            <a:r>
              <a:rPr lang="en-US" sz="1200" dirty="0">
                <a:solidFill>
                  <a:schemeClr val="accent5"/>
                </a:solidFill>
              </a:rPr>
              <a:t>3 instruct/thinking pairs on ASU Voyager, streamed, cached</a:t>
            </a:r>
            <a:endParaRPr lang="en-US" sz="1200" dirty="0"/>
          </a:p>
        </p:txBody>
      </p:sp>
      <p:sp>
        <p:nvSpPr>
          <p:cNvPr id="17" name="arrow3"/>
          <p:cNvSpPr/>
          <p:nvPr/>
        </p:nvSpPr>
        <p:spPr>
          <a:xfrm>
            <a:off x="5701284" y="1847088"/>
            <a:ext cx="758952" cy="0"/>
          </a:xfrm>
          <a:prstGeom prst="line">
            <a:avLst/>
          </a:prstGeom>
          <a:noFill/>
          <a:ln w="15875">
            <a:solidFill>
              <a:schemeClr val="accent5"/>
            </a:solidFill>
            <a:prstDash val="solid"/>
            <a:tailEnd type="triangle"/>
          </a:ln>
        </p:spPr>
      </p:sp>
      <p:sp>
        <p:nvSpPr>
          <p:cNvPr id="18" name="step4-circle"/>
          <p:cNvSpPr/>
          <p:nvPr/>
        </p:nvSpPr>
        <p:spPr>
          <a:xfrm>
            <a:off x="6574536" y="1417320"/>
            <a:ext cx="868680" cy="868680"/>
          </a:xfrm>
          <a:prstGeom prst="ellipse">
            <a:avLst/>
          </a:prstGeom>
          <a:solidFill>
            <a:schemeClr val="accent2">
              <a:alpha val="16000"/>
            </a:schemeClr>
          </a:solidFill>
          <a:ln/>
        </p:spPr>
      </p:sp>
      <p:pic>
        <p:nvPicPr>
          <p:cNvPr id="19" name="step4-icon" descr="preencoded.png">    </p:cNvPr>
          <p:cNvPicPr>
            <a:picLocks noChangeAspect="1"/>
          </p:cNvPicPr>
          <p:nvPr/>
        </p:nvPicPr>
        <p:blipFill>
          <a:blip r:embed="rId4"/>
          <a:stretch>
            <a:fillRect/>
          </a:stretch>
        </p:blipFill>
        <p:spPr>
          <a:xfrm>
            <a:off x="6800393" y="1643177"/>
            <a:ext cx="416966" cy="416966"/>
          </a:xfrm>
          <a:prstGeom prst="rect">
            <a:avLst/>
          </a:prstGeom>
        </p:spPr>
      </p:pic>
      <p:sp>
        <p:nvSpPr>
          <p:cNvPr id="20" name="Text 14"/>
          <p:cNvSpPr txBox="1"/>
          <p:nvPr/>
        </p:nvSpPr>
        <p:spPr>
          <a:xfrm>
            <a:off x="6117336" y="2423160"/>
            <a:ext cx="1783080" cy="411480"/>
          </a:xfrm>
          <a:prstGeom prst="rect">
            <a:avLst/>
          </a:prstGeom>
          <a:noFill/>
          <a:ln/>
        </p:spPr>
        <p:txBody>
          <a:bodyPr wrap="square" lIns="0" tIns="0" rIns="0" bIns="0" rtlCol="0" anchor="ctr"/>
          <a:lstStyle/>
          <a:p>
            <a:pPr algn="ctr" indent="0" marL="0">
              <a:buNone/>
            </a:pPr>
            <a:r>
              <a:rPr lang="en-US" sz="1500" b="1" dirty="0">
                <a:solidFill>
                  <a:schemeClr val="tx1"/>
                </a:solidFill>
              </a:rPr>
              <a:t>Split channels</a:t>
            </a:r>
            <a:endParaRPr lang="en-US" sz="1500" dirty="0"/>
          </a:p>
        </p:txBody>
      </p:sp>
      <p:sp>
        <p:nvSpPr>
          <p:cNvPr id="21" name="Text 15"/>
          <p:cNvSpPr txBox="1"/>
          <p:nvPr/>
        </p:nvSpPr>
        <p:spPr>
          <a:xfrm>
            <a:off x="6163056" y="2834640"/>
            <a:ext cx="1691640" cy="1097280"/>
          </a:xfrm>
          <a:prstGeom prst="rect">
            <a:avLst/>
          </a:prstGeom>
          <a:noFill/>
          <a:ln/>
        </p:spPr>
        <p:txBody>
          <a:bodyPr wrap="square" lIns="0" tIns="0" rIns="0" bIns="0" rtlCol="0" anchor="t"/>
          <a:lstStyle/>
          <a:p>
            <a:pPr algn="ctr" indent="0" marL="0">
              <a:buNone/>
            </a:pPr>
            <a:r>
              <a:rPr lang="en-US" sz="1200" dirty="0">
                <a:solidFill>
                  <a:schemeClr val="accent5"/>
                </a:solidFill>
              </a:rPr>
              <a:t>Private reasoning vs final answer</a:t>
            </a:r>
            <a:endParaRPr lang="en-US" sz="1200" dirty="0"/>
          </a:p>
        </p:txBody>
      </p:sp>
      <p:sp>
        <p:nvSpPr>
          <p:cNvPr id="22" name="arrow4"/>
          <p:cNvSpPr/>
          <p:nvPr/>
        </p:nvSpPr>
        <p:spPr>
          <a:xfrm>
            <a:off x="7557516" y="1847088"/>
            <a:ext cx="758952" cy="0"/>
          </a:xfrm>
          <a:prstGeom prst="line">
            <a:avLst/>
          </a:prstGeom>
          <a:noFill/>
          <a:ln w="15875">
            <a:solidFill>
              <a:schemeClr val="accent5"/>
            </a:solidFill>
            <a:prstDash val="solid"/>
            <a:tailEnd type="triangle"/>
          </a:ln>
        </p:spPr>
      </p:sp>
      <p:sp>
        <p:nvSpPr>
          <p:cNvPr id="23" name="step5-circle"/>
          <p:cNvSpPr/>
          <p:nvPr/>
        </p:nvSpPr>
        <p:spPr>
          <a:xfrm>
            <a:off x="8430768" y="1417320"/>
            <a:ext cx="868680" cy="868680"/>
          </a:xfrm>
          <a:prstGeom prst="ellipse">
            <a:avLst/>
          </a:prstGeom>
          <a:solidFill>
            <a:schemeClr val="accent1">
              <a:alpha val="16000"/>
            </a:schemeClr>
          </a:solidFill>
          <a:ln/>
        </p:spPr>
      </p:sp>
      <p:pic>
        <p:nvPicPr>
          <p:cNvPr id="24" name="step5-icon" descr="preencoded.png">    </p:cNvPr>
          <p:cNvPicPr>
            <a:picLocks noChangeAspect="1"/>
          </p:cNvPicPr>
          <p:nvPr/>
        </p:nvPicPr>
        <p:blipFill>
          <a:blip r:embed="rId5"/>
          <a:stretch>
            <a:fillRect/>
          </a:stretch>
        </p:blipFill>
        <p:spPr>
          <a:xfrm>
            <a:off x="8656625" y="1643177"/>
            <a:ext cx="416966" cy="416966"/>
          </a:xfrm>
          <a:prstGeom prst="rect">
            <a:avLst/>
          </a:prstGeom>
        </p:spPr>
      </p:pic>
      <p:sp>
        <p:nvSpPr>
          <p:cNvPr id="25" name="Text 18"/>
          <p:cNvSpPr txBox="1"/>
          <p:nvPr/>
        </p:nvSpPr>
        <p:spPr>
          <a:xfrm>
            <a:off x="7973568" y="2423160"/>
            <a:ext cx="1783080" cy="411480"/>
          </a:xfrm>
          <a:prstGeom prst="rect">
            <a:avLst/>
          </a:prstGeom>
          <a:noFill/>
          <a:ln/>
        </p:spPr>
        <p:txBody>
          <a:bodyPr wrap="square" lIns="0" tIns="0" rIns="0" bIns="0" rtlCol="0" anchor="ctr"/>
          <a:lstStyle/>
          <a:p>
            <a:pPr algn="ctr" indent="0" marL="0">
              <a:buNone/>
            </a:pPr>
            <a:r>
              <a:rPr lang="en-US" sz="1500" b="1" dirty="0">
                <a:solidFill>
                  <a:schemeClr val="tx1"/>
                </a:solidFill>
              </a:rPr>
              <a:t>Score</a:t>
            </a:r>
            <a:endParaRPr lang="en-US" sz="1500" dirty="0"/>
          </a:p>
        </p:txBody>
      </p:sp>
      <p:sp>
        <p:nvSpPr>
          <p:cNvPr id="26" name="Text 19"/>
          <p:cNvSpPr txBox="1"/>
          <p:nvPr/>
        </p:nvSpPr>
        <p:spPr>
          <a:xfrm>
            <a:off x="8019288" y="2834640"/>
            <a:ext cx="1691640" cy="1097280"/>
          </a:xfrm>
          <a:prstGeom prst="rect">
            <a:avLst/>
          </a:prstGeom>
          <a:noFill/>
          <a:ln/>
        </p:spPr>
        <p:txBody>
          <a:bodyPr wrap="square" lIns="0" tIns="0" rIns="0" bIns="0" rtlCol="0" anchor="t"/>
          <a:lstStyle/>
          <a:p>
            <a:pPr algn="ctr" indent="0" marL="0">
              <a:buNone/>
            </a:pPr>
            <a:r>
              <a:rPr lang="en-US" sz="1200" dirty="0">
                <a:solidFill>
                  <a:schemeClr val="accent5"/>
                </a:solidFill>
              </a:rPr>
              <a:t>Parse the answer; detect hint mentions</a:t>
            </a:r>
            <a:endParaRPr lang="en-US" sz="1200" dirty="0"/>
          </a:p>
        </p:txBody>
      </p:sp>
      <p:sp>
        <p:nvSpPr>
          <p:cNvPr id="27" name="arrow5"/>
          <p:cNvSpPr/>
          <p:nvPr/>
        </p:nvSpPr>
        <p:spPr>
          <a:xfrm>
            <a:off x="9413748" y="1847088"/>
            <a:ext cx="758952" cy="0"/>
          </a:xfrm>
          <a:prstGeom prst="line">
            <a:avLst/>
          </a:prstGeom>
          <a:noFill/>
          <a:ln w="15875">
            <a:solidFill>
              <a:schemeClr val="accent5"/>
            </a:solidFill>
            <a:prstDash val="solid"/>
            <a:tailEnd type="triangle"/>
          </a:ln>
        </p:spPr>
      </p:sp>
      <p:sp>
        <p:nvSpPr>
          <p:cNvPr id="28" name="step6-circle"/>
          <p:cNvSpPr/>
          <p:nvPr/>
        </p:nvSpPr>
        <p:spPr>
          <a:xfrm>
            <a:off x="10287000" y="1417320"/>
            <a:ext cx="868680" cy="868680"/>
          </a:xfrm>
          <a:prstGeom prst="ellipse">
            <a:avLst/>
          </a:prstGeom>
          <a:solidFill>
            <a:schemeClr val="accent2">
              <a:alpha val="16000"/>
            </a:schemeClr>
          </a:solidFill>
          <a:ln/>
        </p:spPr>
      </p:sp>
      <p:pic>
        <p:nvPicPr>
          <p:cNvPr id="29" name="step6-icon" descr="preencoded.png">    </p:cNvPr>
          <p:cNvPicPr>
            <a:picLocks noChangeAspect="1"/>
          </p:cNvPicPr>
          <p:nvPr/>
        </p:nvPicPr>
        <p:blipFill>
          <a:blip r:embed="rId6"/>
          <a:stretch>
            <a:fillRect/>
          </a:stretch>
        </p:blipFill>
        <p:spPr>
          <a:xfrm>
            <a:off x="10512857" y="1643177"/>
            <a:ext cx="416966" cy="416966"/>
          </a:xfrm>
          <a:prstGeom prst="rect">
            <a:avLst/>
          </a:prstGeom>
        </p:spPr>
      </p:pic>
      <p:sp>
        <p:nvSpPr>
          <p:cNvPr id="30" name="Text 22"/>
          <p:cNvSpPr txBox="1"/>
          <p:nvPr/>
        </p:nvSpPr>
        <p:spPr>
          <a:xfrm>
            <a:off x="9829800" y="2423160"/>
            <a:ext cx="1783080" cy="411480"/>
          </a:xfrm>
          <a:prstGeom prst="rect">
            <a:avLst/>
          </a:prstGeom>
          <a:noFill/>
          <a:ln/>
        </p:spPr>
        <p:txBody>
          <a:bodyPr wrap="square" lIns="0" tIns="0" rIns="0" bIns="0" rtlCol="0" anchor="ctr"/>
          <a:lstStyle/>
          <a:p>
            <a:pPr algn="ctr" indent="0" marL="0">
              <a:buNone/>
            </a:pPr>
            <a:r>
              <a:rPr lang="en-US" sz="1500" b="1" dirty="0">
                <a:solidFill>
                  <a:schemeClr val="tx1"/>
                </a:solidFill>
              </a:rPr>
              <a:t>Analyze</a:t>
            </a:r>
            <a:endParaRPr lang="en-US" sz="1500" dirty="0"/>
          </a:p>
        </p:txBody>
      </p:sp>
      <p:sp>
        <p:nvSpPr>
          <p:cNvPr id="31" name="Text 23"/>
          <p:cNvSpPr txBox="1"/>
          <p:nvPr/>
        </p:nvSpPr>
        <p:spPr>
          <a:xfrm>
            <a:off x="9875520" y="2834640"/>
            <a:ext cx="1691640" cy="1097280"/>
          </a:xfrm>
          <a:prstGeom prst="rect">
            <a:avLst/>
          </a:prstGeom>
          <a:noFill/>
          <a:ln/>
        </p:spPr>
        <p:txBody>
          <a:bodyPr wrap="square" lIns="0" tIns="0" rIns="0" bIns="0" rtlCol="0" anchor="t"/>
          <a:lstStyle/>
          <a:p>
            <a:pPr algn="ctr" indent="0" marL="0">
              <a:buNone/>
            </a:pPr>
            <a:r>
              <a:rPr lang="en-US" sz="1200" dirty="0">
                <a:solidFill>
                  <a:schemeClr val="accent5"/>
                </a:solidFill>
              </a:rPr>
              <a:t>Hint effect vs no-hint variation, bootstrap CIs</a:t>
            </a:r>
            <a:endParaRPr lang="en-US" sz="1200" dirty="0"/>
          </a:p>
        </p:txBody>
      </p:sp>
      <p:sp>
        <p:nvSpPr>
          <p:cNvPr id="32" name="stat1"/>
          <p:cNvSpPr/>
          <p:nvPr/>
        </p:nvSpPr>
        <p:spPr>
          <a:xfrm>
            <a:off x="548640" y="4206240"/>
            <a:ext cx="2606040" cy="1783080"/>
          </a:xfrm>
          <a:prstGeom prst="roundRect">
            <a:avLst>
              <a:gd name="adj" fmla="val 4103"/>
            </a:avLst>
          </a:prstGeom>
          <a:solidFill>
            <a:schemeClr val="bg2"/>
          </a:solidFill>
          <a:ln/>
        </p:spPr>
      </p:sp>
      <p:sp>
        <p:nvSpPr>
          <p:cNvPr id="33" name="Text 25"/>
          <p:cNvSpPr txBox="1"/>
          <p:nvPr/>
        </p:nvSpPr>
        <p:spPr>
          <a:xfrm>
            <a:off x="548640" y="4389120"/>
            <a:ext cx="2606040" cy="868680"/>
          </a:xfrm>
          <a:prstGeom prst="rect">
            <a:avLst/>
          </a:prstGeom>
          <a:noFill/>
          <a:ln/>
        </p:spPr>
        <p:txBody>
          <a:bodyPr wrap="square" lIns="0" tIns="0" rIns="0" bIns="0" rtlCol="0" anchor="ctr"/>
          <a:lstStyle/>
          <a:p>
            <a:pPr algn="ctr" indent="0" marL="0">
              <a:buNone/>
            </a:pPr>
            <a:r>
              <a:rPr lang="en-US" sz="4000" b="1" dirty="0">
                <a:solidFill>
                  <a:schemeClr val="accent1"/>
                </a:solidFill>
              </a:rPr>
              <a:t>105</a:t>
            </a:r>
            <a:endParaRPr lang="en-US" sz="4000" dirty="0"/>
          </a:p>
        </p:txBody>
      </p:sp>
      <p:sp>
        <p:nvSpPr>
          <p:cNvPr id="34" name="Text 26"/>
          <p:cNvSpPr txBox="1"/>
          <p:nvPr/>
        </p:nvSpPr>
        <p:spPr>
          <a:xfrm>
            <a:off x="685800" y="5303520"/>
            <a:ext cx="2331720" cy="502920"/>
          </a:xfrm>
          <a:prstGeom prst="rect">
            <a:avLst/>
          </a:prstGeom>
          <a:noFill/>
          <a:ln/>
        </p:spPr>
        <p:txBody>
          <a:bodyPr wrap="square" lIns="0" tIns="0" rIns="0" bIns="0" rtlCol="0" anchor="ctr"/>
          <a:lstStyle/>
          <a:p>
            <a:pPr algn="ctr" indent="0" marL="0">
              <a:buNone/>
            </a:pPr>
            <a:r>
              <a:rPr lang="en-US" sz="1300" dirty="0">
                <a:solidFill>
                  <a:schemeClr val="tx1"/>
                </a:solidFill>
              </a:rPr>
              <a:t>model calls in this round</a:t>
            </a:r>
            <a:endParaRPr lang="en-US" sz="1300" dirty="0"/>
          </a:p>
        </p:txBody>
      </p:sp>
      <p:sp>
        <p:nvSpPr>
          <p:cNvPr id="35" name="stat2"/>
          <p:cNvSpPr/>
          <p:nvPr/>
        </p:nvSpPr>
        <p:spPr>
          <a:xfrm>
            <a:off x="3337560" y="4206240"/>
            <a:ext cx="2606040" cy="1783080"/>
          </a:xfrm>
          <a:prstGeom prst="roundRect">
            <a:avLst>
              <a:gd name="adj" fmla="val 4103"/>
            </a:avLst>
          </a:prstGeom>
          <a:solidFill>
            <a:schemeClr val="bg2"/>
          </a:solidFill>
          <a:ln/>
        </p:spPr>
      </p:sp>
      <p:sp>
        <p:nvSpPr>
          <p:cNvPr id="36" name="Text 28"/>
          <p:cNvSpPr txBox="1"/>
          <p:nvPr/>
        </p:nvSpPr>
        <p:spPr>
          <a:xfrm>
            <a:off x="3337560" y="4389120"/>
            <a:ext cx="2606040" cy="868680"/>
          </a:xfrm>
          <a:prstGeom prst="rect">
            <a:avLst/>
          </a:prstGeom>
          <a:noFill/>
          <a:ln/>
        </p:spPr>
        <p:txBody>
          <a:bodyPr wrap="square" lIns="0" tIns="0" rIns="0" bIns="0" rtlCol="0" anchor="ctr"/>
          <a:lstStyle/>
          <a:p>
            <a:pPr algn="ctr" indent="0" marL="0">
              <a:buNone/>
            </a:pPr>
            <a:r>
              <a:rPr lang="en-US" sz="4000" b="1" dirty="0">
                <a:solidFill>
                  <a:schemeClr val="accent2"/>
                </a:solidFill>
              </a:rPr>
              <a:t>6</a:t>
            </a:r>
            <a:endParaRPr lang="en-US" sz="4000" dirty="0"/>
          </a:p>
        </p:txBody>
      </p:sp>
      <p:sp>
        <p:nvSpPr>
          <p:cNvPr id="37" name="Text 29"/>
          <p:cNvSpPr txBox="1"/>
          <p:nvPr/>
        </p:nvSpPr>
        <p:spPr>
          <a:xfrm>
            <a:off x="3474720" y="5303520"/>
            <a:ext cx="2331720" cy="502920"/>
          </a:xfrm>
          <a:prstGeom prst="rect">
            <a:avLst/>
          </a:prstGeom>
          <a:noFill/>
          <a:ln/>
        </p:spPr>
        <p:txBody>
          <a:bodyPr wrap="square" lIns="0" tIns="0" rIns="0" bIns="0" rtlCol="0" anchor="ctr"/>
          <a:lstStyle/>
          <a:p>
            <a:pPr algn="ctr" indent="0" marL="0">
              <a:buNone/>
            </a:pPr>
            <a:r>
              <a:rPr lang="en-US" sz="1300" dirty="0">
                <a:solidFill>
                  <a:schemeClr val="tx1"/>
                </a:solidFill>
              </a:rPr>
              <a:t>models, 2 families</a:t>
            </a:r>
            <a:endParaRPr lang="en-US" sz="1300" dirty="0"/>
          </a:p>
        </p:txBody>
      </p:sp>
      <p:sp>
        <p:nvSpPr>
          <p:cNvPr id="38" name="stat3"/>
          <p:cNvSpPr/>
          <p:nvPr/>
        </p:nvSpPr>
        <p:spPr>
          <a:xfrm>
            <a:off x="6126480" y="4206240"/>
            <a:ext cx="2606040" cy="1783080"/>
          </a:xfrm>
          <a:prstGeom prst="roundRect">
            <a:avLst>
              <a:gd name="adj" fmla="val 4103"/>
            </a:avLst>
          </a:prstGeom>
          <a:solidFill>
            <a:schemeClr val="bg2"/>
          </a:solidFill>
          <a:ln/>
        </p:spPr>
      </p:sp>
      <p:sp>
        <p:nvSpPr>
          <p:cNvPr id="39" name="Text 31"/>
          <p:cNvSpPr txBox="1"/>
          <p:nvPr/>
        </p:nvSpPr>
        <p:spPr>
          <a:xfrm>
            <a:off x="6126480" y="4389120"/>
            <a:ext cx="2606040" cy="868680"/>
          </a:xfrm>
          <a:prstGeom prst="rect">
            <a:avLst/>
          </a:prstGeom>
          <a:noFill/>
          <a:ln/>
        </p:spPr>
        <p:txBody>
          <a:bodyPr wrap="square" lIns="0" tIns="0" rIns="0" bIns="0" rtlCol="0" anchor="ctr"/>
          <a:lstStyle/>
          <a:p>
            <a:pPr algn="ctr" indent="0" marL="0">
              <a:buNone/>
            </a:pPr>
            <a:r>
              <a:rPr lang="en-US" sz="4000" b="1" dirty="0">
                <a:solidFill>
                  <a:schemeClr val="accent1"/>
                </a:solidFill>
              </a:rPr>
              <a:t>0</a:t>
            </a:r>
            <a:endParaRPr lang="en-US" sz="4000" dirty="0"/>
          </a:p>
        </p:txBody>
      </p:sp>
      <p:sp>
        <p:nvSpPr>
          <p:cNvPr id="40" name="Text 32"/>
          <p:cNvSpPr txBox="1"/>
          <p:nvPr/>
        </p:nvSpPr>
        <p:spPr>
          <a:xfrm>
            <a:off x="6263640" y="5303520"/>
            <a:ext cx="2331720" cy="502920"/>
          </a:xfrm>
          <a:prstGeom prst="rect">
            <a:avLst/>
          </a:prstGeom>
          <a:noFill/>
          <a:ln/>
        </p:spPr>
        <p:txBody>
          <a:bodyPr wrap="square" lIns="0" tIns="0" rIns="0" bIns="0" rtlCol="0" anchor="ctr"/>
          <a:lstStyle/>
          <a:p>
            <a:pPr algn="ctr" indent="0" marL="0">
              <a:buNone/>
            </a:pPr>
            <a:r>
              <a:rPr lang="en-US" sz="1300" dirty="0">
                <a:solidFill>
                  <a:schemeClr val="tx1"/>
                </a:solidFill>
              </a:rPr>
              <a:t>API errors after fixes</a:t>
            </a:r>
            <a:endParaRPr lang="en-US" sz="1300" dirty="0"/>
          </a:p>
        </p:txBody>
      </p:sp>
      <p:sp>
        <p:nvSpPr>
          <p:cNvPr id="41" name="stat4"/>
          <p:cNvSpPr/>
          <p:nvPr/>
        </p:nvSpPr>
        <p:spPr>
          <a:xfrm>
            <a:off x="8915400" y="4206240"/>
            <a:ext cx="2606040" cy="1783080"/>
          </a:xfrm>
          <a:prstGeom prst="roundRect">
            <a:avLst>
              <a:gd name="adj" fmla="val 4103"/>
            </a:avLst>
          </a:prstGeom>
          <a:solidFill>
            <a:schemeClr val="bg2"/>
          </a:solidFill>
          <a:ln/>
        </p:spPr>
      </p:sp>
      <p:sp>
        <p:nvSpPr>
          <p:cNvPr id="42" name="Text 34"/>
          <p:cNvSpPr txBox="1"/>
          <p:nvPr/>
        </p:nvSpPr>
        <p:spPr>
          <a:xfrm>
            <a:off x="8915400" y="4389120"/>
            <a:ext cx="2606040" cy="868680"/>
          </a:xfrm>
          <a:prstGeom prst="rect">
            <a:avLst/>
          </a:prstGeom>
          <a:noFill/>
          <a:ln/>
        </p:spPr>
        <p:txBody>
          <a:bodyPr wrap="square" lIns="0" tIns="0" rIns="0" bIns="0" rtlCol="0" anchor="ctr"/>
          <a:lstStyle/>
          <a:p>
            <a:pPr algn="ctr" indent="0" marL="0">
              <a:buNone/>
            </a:pPr>
            <a:r>
              <a:rPr lang="en-US" sz="4000" b="1" dirty="0">
                <a:solidFill>
                  <a:schemeClr val="accent2"/>
                </a:solidFill>
              </a:rPr>
              <a:t>312</a:t>
            </a:r>
            <a:endParaRPr lang="en-US" sz="4000" dirty="0"/>
          </a:p>
        </p:txBody>
      </p:sp>
      <p:sp>
        <p:nvSpPr>
          <p:cNvPr id="43" name="Text 35"/>
          <p:cNvSpPr txBox="1"/>
          <p:nvPr/>
        </p:nvSpPr>
        <p:spPr>
          <a:xfrm>
            <a:off x="9052560" y="5303520"/>
            <a:ext cx="2331720" cy="502920"/>
          </a:xfrm>
          <a:prstGeom prst="rect">
            <a:avLst/>
          </a:prstGeom>
          <a:noFill/>
          <a:ln/>
        </p:spPr>
        <p:txBody>
          <a:bodyPr wrap="square" lIns="0" tIns="0" rIns="0" bIns="0" rtlCol="0" anchor="ctr"/>
          <a:lstStyle/>
          <a:p>
            <a:pPr algn="ctr" indent="0" marL="0">
              <a:buNone/>
            </a:pPr>
            <a:r>
              <a:rPr lang="en-US" sz="1300" dirty="0">
                <a:solidFill>
                  <a:schemeClr val="tx1"/>
                </a:solidFill>
              </a:rPr>
              <a:t>calls in earlier pilots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Result 1: the hint barely changes answers</a:t>
            </a:r>
            <a:endParaRPr lang="en-US" sz="3000" dirty="0"/>
          </a:p>
        </p:txBody>
      </p:sp>
      <p:graphicFrame>
        <p:nvGraphicFramePr>
          <p:cNvPr id="3" name="Chart 0" descr=""/>
          <p:cNvGraphicFramePr/>
          <p:nvPr/>
        </p:nvGraphicFramePr>
        <p:xfrm>
          <a:off x="548640" y="128016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r1-card"/>
          <p:cNvSpPr/>
          <p:nvPr/>
        </p:nvSpPr>
        <p:spPr>
          <a:xfrm>
            <a:off x="7863840" y="1280160"/>
            <a:ext cx="3749040" cy="4846320"/>
          </a:xfrm>
          <a:prstGeom prst="roundRect">
            <a:avLst>
              <a:gd name="adj" fmla="val 1951"/>
            </a:avLst>
          </a:prstGeom>
          <a:solidFill>
            <a:schemeClr val="bg2"/>
          </a:solidFill>
          <a:ln/>
        </p:spPr>
      </p:sp>
      <p:sp>
        <p:nvSpPr>
          <p:cNvPr id="5" name="Text 2"/>
          <p:cNvSpPr txBox="1"/>
          <p:nvPr/>
        </p:nvSpPr>
        <p:spPr>
          <a:xfrm>
            <a:off x="8092440" y="1463040"/>
            <a:ext cx="3383280" cy="411480"/>
          </a:xfrm>
          <a:prstGeom prst="rect">
            <a:avLst/>
          </a:prstGeom>
          <a:noFill/>
          <a:ln/>
        </p:spPr>
        <p:txBody>
          <a:bodyPr wrap="square" lIns="0" tIns="0" rIns="0" bIns="0" rtlCol="0" anchor="ctr"/>
          <a:lstStyle/>
          <a:p>
            <a:pPr indent="0" marL="0">
              <a:buNone/>
            </a:pPr>
            <a:r>
              <a:rPr lang="en-US" sz="1400" b="1" dirty="0">
                <a:solidFill>
                  <a:schemeClr val="tx1"/>
                </a:solidFill>
              </a:rPr>
              <a:t>Hint effect (with − without), 95% CI</a:t>
            </a:r>
            <a:endParaRPr lang="en-US" sz="1400" dirty="0"/>
          </a:p>
        </p:txBody>
      </p:sp>
      <p:sp>
        <p:nvSpPr>
          <p:cNvPr id="6" name="Text 3"/>
          <p:cNvSpPr txBox="1"/>
          <p:nvPr/>
        </p:nvSpPr>
        <p:spPr>
          <a:xfrm>
            <a:off x="8092440" y="1920240"/>
            <a:ext cx="3383280" cy="210312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Olmo 3 7B Instruct:  –</a:t>
            </a:r>
            <a:endParaRPr lang="en-US" sz="1150" dirty="0"/>
          </a:p>
          <a:p>
            <a:pPr indent="0" marL="0">
              <a:spcAft>
                <a:spcPts val="400"/>
              </a:spcAft>
              <a:buNone/>
            </a:pPr>
            <a:r>
              <a:rPr lang="en-US" sz="1150" dirty="0">
                <a:solidFill>
                  <a:schemeClr val="tx1"/>
                </a:solidFill>
              </a:rPr>
              <a:t>Olmo 3 7B Think:  –</a:t>
            </a:r>
            <a:endParaRPr lang="en-US" sz="1150" dirty="0"/>
          </a:p>
          <a:p>
            <a:pPr indent="0" marL="0">
              <a:spcAft>
                <a:spcPts val="400"/>
              </a:spcAft>
              <a:buNone/>
            </a:pPr>
            <a:r>
              <a:rPr lang="en-US" sz="1150" dirty="0">
                <a:solidFill>
                  <a:schemeClr val="tx1"/>
                </a:solidFill>
              </a:rPr>
              <a:t>Olmo 3 32B Instruct:  –</a:t>
            </a:r>
            <a:endParaRPr lang="en-US" sz="1150" dirty="0"/>
          </a:p>
          <a:p>
            <a:pPr indent="0" marL="0">
              <a:spcAft>
                <a:spcPts val="400"/>
              </a:spcAft>
              <a:buNone/>
            </a:pPr>
            <a:r>
              <a:rPr lang="en-US" sz="1150" dirty="0">
                <a:solidFill>
                  <a:schemeClr val="tx1"/>
                </a:solidFill>
              </a:rPr>
              <a:t>Olmo 3 32B Think:  –</a:t>
            </a:r>
            <a:endParaRPr lang="en-US" sz="1150" dirty="0"/>
          </a:p>
          <a:p>
            <a:pPr indent="0" marL="0">
              <a:spcAft>
                <a:spcPts val="400"/>
              </a:spcAft>
              <a:buNone/>
            </a:pPr>
            <a:r>
              <a:rPr lang="en-US" sz="1150" dirty="0">
                <a:solidFill>
                  <a:schemeClr val="tx1"/>
                </a:solidFill>
              </a:rPr>
              <a:t>Qwen3 30B Instruct:  –</a:t>
            </a:r>
            <a:endParaRPr lang="en-US" sz="1150" dirty="0"/>
          </a:p>
          <a:p>
            <a:pPr indent="0" marL="0">
              <a:spcAft>
                <a:spcPts val="400"/>
              </a:spcAft>
              <a:buNone/>
            </a:pPr>
            <a:r>
              <a:rPr lang="en-US" sz="1150" dirty="0">
                <a:solidFill>
                  <a:schemeClr val="tx1"/>
                </a:solidFill>
              </a:rPr>
              <a:t>Qwen3 30B Thinking:  –</a:t>
            </a:r>
            <a:endParaRPr lang="en-US" sz="1150" dirty="0"/>
          </a:p>
        </p:txBody>
      </p:sp>
      <p:sp>
        <p:nvSpPr>
          <p:cNvPr id="7" name="Text 4"/>
          <p:cNvSpPr txBox="1"/>
          <p:nvPr/>
        </p:nvSpPr>
        <p:spPr>
          <a:xfrm>
            <a:off x="8092440" y="4069080"/>
            <a:ext cx="3383280" cy="1920240"/>
          </a:xfrm>
          <a:prstGeom prst="rect">
            <a:avLst/>
          </a:prstGeom>
          <a:noFill/>
          <a:ln/>
        </p:spPr>
        <p:txBody>
          <a:bodyPr wrap="square" lIns="0" tIns="0" rIns="0" bIns="0" rtlCol="0" anchor="t"/>
          <a:lstStyle/>
          <a:p>
            <a:pPr indent="0" marL="0">
              <a:spcAft>
                <a:spcPts val="600"/>
              </a:spcAft>
              <a:buNone/>
            </a:pPr>
            <a:r>
              <a:rPr lang="en-US" sz="1200" b="1" dirty="0">
                <a:solidFill>
                  <a:schemeClr val="tx1"/>
                </a:solidFill>
              </a:rPr>
              <a:t>What we can say: </a:t>
            </a:r>
            <a:pPr indent="0" marL="0">
              <a:spcAft>
                <a:spcPts val="600"/>
              </a:spcAft>
              <a:buNone/>
            </a:pPr>
            <a:r>
              <a:rPr lang="en-US" sz="1200" dirty="0">
                <a:solidFill>
                  <a:schemeClr val="tx1"/>
                </a:solidFill>
              </a:rPr>
              <a:t>on these puzzles a wrong hint shifts choices by only a few points, within ordinary run-to-run variation for most models.</a:t>
            </a:r>
            <a:endParaRPr lang="en-US" sz="1200" dirty="0"/>
          </a:p>
          <a:p>
            <a:pPr indent="0" marL="0">
              <a:spcAft>
                <a:spcPts val="600"/>
              </a:spcAft>
              <a:buNone/>
            </a:pPr>
            <a:r>
              <a:rPr lang="en-US" sz="1200" b="1" dirty="0">
                <a:solidFill>
                  <a:schemeClr val="tx1"/>
                </a:solidFill>
              </a:rPr>
              <a:t>Limits: </a:t>
            </a:r>
            <a:pPr indent="0" marL="0">
              <a:spcAft>
                <a:spcPts val="600"/>
              </a:spcAft>
              <a:buNone/>
            </a:pPr>
            <a:r>
              <a:rPr lang="en-US" sz="1200" dirty="0">
                <a:solidFill>
                  <a:schemeClr val="tx1"/>
                </a:solidFill>
              </a:rPr>
              <a:t>one task, 24 puzzles. The models are mostly accurate here, so a hint has little room to work.</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Result 2: thinking models notice the hint, then leave it out</a:t>
            </a:r>
            <a:endParaRPr lang="en-US" sz="3000" dirty="0"/>
          </a:p>
        </p:txBody>
      </p:sp>
      <p:graphicFrame>
        <p:nvGraphicFramePr>
          <p:cNvPr id="3" name="Chart 0" descr=""/>
          <p:cNvGraphicFramePr/>
          <p:nvPr/>
        </p:nvGraphicFramePr>
        <p:xfrm>
          <a:off x="548640" y="128016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r2-card"/>
          <p:cNvSpPr/>
          <p:nvPr/>
        </p:nvSpPr>
        <p:spPr>
          <a:xfrm>
            <a:off x="7863840" y="1280160"/>
            <a:ext cx="3749040" cy="4846320"/>
          </a:xfrm>
          <a:prstGeom prst="roundRect">
            <a:avLst>
              <a:gd name="adj" fmla="val 1951"/>
            </a:avLst>
          </a:prstGeom>
          <a:solidFill>
            <a:schemeClr val="bg2"/>
          </a:solidFill>
          <a:ln/>
        </p:spPr>
      </p:sp>
      <p:sp>
        <p:nvSpPr>
          <p:cNvPr id="5" name="r2-lock-circle"/>
          <p:cNvSpPr/>
          <p:nvPr/>
        </p:nvSpPr>
        <p:spPr>
          <a:xfrm>
            <a:off x="8092440" y="1508760"/>
            <a:ext cx="640080" cy="640080"/>
          </a:xfrm>
          <a:prstGeom prst="ellipse">
            <a:avLst/>
          </a:prstGeom>
          <a:solidFill>
            <a:schemeClr val="accent1">
              <a:alpha val="16000"/>
            </a:schemeClr>
          </a:solidFill>
          <a:ln/>
        </p:spPr>
      </p:sp>
      <p:pic>
        <p:nvPicPr>
          <p:cNvPr id="6" name="r2-lock-icon" descr="preencoded.png">    </p:cNvPr>
          <p:cNvPicPr>
            <a:picLocks noChangeAspect="1"/>
          </p:cNvPicPr>
          <p:nvPr/>
        </p:nvPicPr>
        <p:blipFill>
          <a:blip r:embed="rId2"/>
          <a:stretch>
            <a:fillRect/>
          </a:stretch>
        </p:blipFill>
        <p:spPr>
          <a:xfrm>
            <a:off x="8258861" y="1675181"/>
            <a:ext cx="307238" cy="307238"/>
          </a:xfrm>
          <a:prstGeom prst="rect">
            <a:avLst/>
          </a:prstGeom>
        </p:spPr>
      </p:pic>
      <p:sp>
        <p:nvSpPr>
          <p:cNvPr id="7" name="Text 3"/>
          <p:cNvSpPr txBox="1"/>
          <p:nvPr/>
        </p:nvSpPr>
        <p:spPr>
          <a:xfrm>
            <a:off x="8869680" y="1463040"/>
            <a:ext cx="2651760" cy="548640"/>
          </a:xfrm>
          <a:prstGeom prst="rect">
            <a:avLst/>
          </a:prstGeom>
          <a:noFill/>
          <a:ln/>
        </p:spPr>
        <p:txBody>
          <a:bodyPr wrap="square" lIns="0" tIns="0" rIns="0" bIns="0" rtlCol="0" anchor="ctr"/>
          <a:lstStyle/>
          <a:p>
            <a:pPr indent="0" marL="0">
              <a:buNone/>
            </a:pPr>
            <a:r>
              <a:rPr lang="en-US" sz="3000" b="1" dirty="0">
                <a:solidFill>
                  <a:schemeClr val="accent1"/>
                </a:solidFill>
              </a:rPr>
              <a:t>0 / 0</a:t>
            </a:r>
            <a:endParaRPr lang="en-US" sz="3000" dirty="0"/>
          </a:p>
        </p:txBody>
      </p:sp>
      <p:sp>
        <p:nvSpPr>
          <p:cNvPr id="8" name="Text 4"/>
          <p:cNvSpPr txBox="1"/>
          <p:nvPr/>
        </p:nvSpPr>
        <p:spPr>
          <a:xfrm>
            <a:off x="8869680" y="1965960"/>
            <a:ext cx="2651760" cy="320040"/>
          </a:xfrm>
          <a:prstGeom prst="rect">
            <a:avLst/>
          </a:prstGeom>
          <a:noFill/>
          <a:ln/>
        </p:spPr>
        <p:txBody>
          <a:bodyPr wrap="square" lIns="0" tIns="0" rIns="0" bIns="0" rtlCol="0" anchor="ctr"/>
          <a:lstStyle/>
          <a:p>
            <a:pPr indent="0" marL="0">
              <a:buNone/>
            </a:pPr>
            <a:r>
              <a:rPr lang="en-US" sz="1200" dirty="0">
                <a:solidFill>
                  <a:schemeClr val="tx1"/>
                </a:solidFill>
              </a:rPr>
              <a:t>private traces mention the hint</a:t>
            </a:r>
            <a:endParaRPr lang="en-US" sz="1200" dirty="0"/>
          </a:p>
        </p:txBody>
      </p:sp>
      <p:sp>
        <p:nvSpPr>
          <p:cNvPr id="9" name="r2-eye-circle"/>
          <p:cNvSpPr/>
          <p:nvPr/>
        </p:nvSpPr>
        <p:spPr>
          <a:xfrm>
            <a:off x="8092440" y="2514600"/>
            <a:ext cx="640080" cy="640080"/>
          </a:xfrm>
          <a:prstGeom prst="ellipse">
            <a:avLst/>
          </a:prstGeom>
          <a:solidFill>
            <a:schemeClr val="accent2">
              <a:alpha val="16000"/>
            </a:schemeClr>
          </a:solidFill>
          <a:ln/>
        </p:spPr>
      </p:sp>
      <p:pic>
        <p:nvPicPr>
          <p:cNvPr id="10" name="r2-eye-icon" descr="preencoded.png">    </p:cNvPr>
          <p:cNvPicPr>
            <a:picLocks noChangeAspect="1"/>
          </p:cNvPicPr>
          <p:nvPr/>
        </p:nvPicPr>
        <p:blipFill>
          <a:blip r:embed="rId3"/>
          <a:stretch>
            <a:fillRect/>
          </a:stretch>
        </p:blipFill>
        <p:spPr>
          <a:xfrm>
            <a:off x="8258861" y="2681021"/>
            <a:ext cx="307238" cy="307238"/>
          </a:xfrm>
          <a:prstGeom prst="rect">
            <a:avLst/>
          </a:prstGeom>
        </p:spPr>
      </p:pic>
      <p:sp>
        <p:nvSpPr>
          <p:cNvPr id="11" name="Text 6"/>
          <p:cNvSpPr txBox="1"/>
          <p:nvPr/>
        </p:nvSpPr>
        <p:spPr>
          <a:xfrm>
            <a:off x="8869680" y="2468880"/>
            <a:ext cx="2651760" cy="548640"/>
          </a:xfrm>
          <a:prstGeom prst="rect">
            <a:avLst/>
          </a:prstGeom>
          <a:noFill/>
          <a:ln/>
        </p:spPr>
        <p:txBody>
          <a:bodyPr wrap="square" lIns="0" tIns="0" rIns="0" bIns="0" rtlCol="0" anchor="ctr"/>
          <a:lstStyle/>
          <a:p>
            <a:pPr indent="0" marL="0">
              <a:buNone/>
            </a:pPr>
            <a:r>
              <a:rPr lang="en-US" sz="3000" b="1" dirty="0">
                <a:solidFill>
                  <a:schemeClr val="accent2"/>
                </a:solidFill>
              </a:rPr>
              <a:t>0 / 0</a:t>
            </a:r>
            <a:endParaRPr lang="en-US" sz="3000" dirty="0"/>
          </a:p>
        </p:txBody>
      </p:sp>
      <p:sp>
        <p:nvSpPr>
          <p:cNvPr id="12" name="Text 7"/>
          <p:cNvSpPr txBox="1"/>
          <p:nvPr/>
        </p:nvSpPr>
        <p:spPr>
          <a:xfrm>
            <a:off x="8869680" y="2971800"/>
            <a:ext cx="2651760" cy="320040"/>
          </a:xfrm>
          <a:prstGeom prst="rect">
            <a:avLst/>
          </a:prstGeom>
          <a:noFill/>
          <a:ln/>
        </p:spPr>
        <p:txBody>
          <a:bodyPr wrap="square" lIns="0" tIns="0" rIns="0" bIns="0" rtlCol="0" anchor="ctr"/>
          <a:lstStyle/>
          <a:p>
            <a:pPr indent="0" marL="0">
              <a:buNone/>
            </a:pPr>
            <a:r>
              <a:rPr lang="en-US" sz="1200" dirty="0">
                <a:solidFill>
                  <a:schemeClr val="tx1"/>
                </a:solidFill>
              </a:rPr>
              <a:t>final answers mention it</a:t>
            </a:r>
            <a:endParaRPr lang="en-US" sz="1200" dirty="0"/>
          </a:p>
        </p:txBody>
      </p:sp>
      <p:sp>
        <p:nvSpPr>
          <p:cNvPr id="13" name="Text 8"/>
          <p:cNvSpPr txBox="1"/>
          <p:nvPr/>
        </p:nvSpPr>
        <p:spPr>
          <a:xfrm>
            <a:off x="8092440" y="3474720"/>
            <a:ext cx="3383280" cy="2606040"/>
          </a:xfrm>
          <a:prstGeom prst="rect">
            <a:avLst/>
          </a:prstGeom>
          <a:noFill/>
          <a:ln/>
        </p:spPr>
        <p:txBody>
          <a:bodyPr wrap="square" lIns="0" tIns="0" rIns="0" bIns="0" rtlCol="0" anchor="t"/>
          <a:lstStyle/>
          <a:p>
            <a:pPr indent="0" marL="0">
              <a:spcAft>
                <a:spcPts val="500"/>
              </a:spcAft>
              <a:buNone/>
            </a:pPr>
            <a:r>
              <a:rPr lang="en-US" sz="1150" b="1" dirty="0">
                <a:solidFill>
                  <a:schemeClr val="tx1"/>
                </a:solidFill>
              </a:rPr>
              <a:t>Compare instruct models (one channel): </a:t>
            </a:r>
            <a:pPr indent="0" marL="0">
              <a:spcAft>
                <a:spcPts val="500"/>
              </a:spcAft>
              <a:buNone/>
            </a:pPr>
            <a:r>
              <a:rPr lang="en-US" sz="1150" dirty="0">
                <a:solidFill>
                  <a:schemeClr val="tx1"/>
                </a:solidFill>
              </a:rPr>
              <a:t>their visible reply mentions the hint in 0 / 0 hinted runs.</a:t>
            </a:r>
            <a:endParaRPr lang="en-US" sz="1150" dirty="0"/>
          </a:p>
          <a:p>
            <a:pPr indent="0" marL="0">
              <a:spcAft>
                <a:spcPts val="500"/>
              </a:spcAft>
              <a:buNone/>
            </a:pPr>
            <a:r>
              <a:rPr lang="en-US" sz="1150" b="1" dirty="0">
                <a:solidFill>
                  <a:schemeClr val="tx1"/>
                </a:solidFill>
              </a:rPr>
              <a:t>Mostly mentions, not admissions: </a:t>
            </a:r>
            <a:pPr indent="0" marL="0">
              <a:spcAft>
                <a:spcPts val="500"/>
              </a:spcAft>
              <a:buNone/>
            </a:pPr>
            <a:r>
              <a:rPr lang="en-US" sz="1150" dirty="0">
                <a:solidFill>
                  <a:schemeClr val="tx1"/>
                </a:solidFill>
              </a:rPr>
              <a:t>traces usually reject the hint (“the user thought C, but…”).</a:t>
            </a:r>
            <a:endParaRPr lang="en-US" sz="1150" dirty="0"/>
          </a:p>
          <a:p>
            <a:pPr indent="0" marL="0">
              <a:spcAft>
                <a:spcPts val="500"/>
              </a:spcAft>
              <a:buNone/>
            </a:pPr>
            <a:r>
              <a:rPr lang="en-US" sz="1150" b="1" dirty="0">
                <a:solidFill>
                  <a:schemeClr val="tx1"/>
                </a:solidFill>
              </a:rPr>
              <a:t>Limits: </a:t>
            </a:r>
            <a:pPr indent="0" marL="0">
              <a:spcAft>
                <a:spcPts val="500"/>
              </a:spcAft>
              <a:buNone/>
            </a:pPr>
            <a:r>
              <a:rPr lang="en-US" sz="1150" dirty="0">
                <a:solidFill>
                  <a:schemeClr val="tx1"/>
                </a:solidFill>
              </a:rPr>
              <a:t>keyword detector, manual labels pending. Omission is our operational measure, not proof of dishonesty, and the trace is not the model’s internal computation.</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Smaller findings that shape the design</a:t>
            </a:r>
            <a:endParaRPr lang="en-US" sz="3000" dirty="0"/>
          </a:p>
        </p:txBody>
      </p:sp>
      <p:sp>
        <p:nvSpPr>
          <p:cNvPr id="3" name="finding1"/>
          <p:cNvSpPr/>
          <p:nvPr/>
        </p:nvSpPr>
        <p:spPr>
          <a:xfrm>
            <a:off x="548640" y="1371600"/>
            <a:ext cx="5440680" cy="2240280"/>
          </a:xfrm>
          <a:prstGeom prst="roundRect">
            <a:avLst>
              <a:gd name="adj" fmla="val 3265"/>
            </a:avLst>
          </a:prstGeom>
          <a:solidFill>
            <a:schemeClr val="bg2"/>
          </a:solidFill>
          <a:ln/>
        </p:spPr>
      </p:sp>
      <p:sp>
        <p:nvSpPr>
          <p:cNvPr id="4" name="Text 2"/>
          <p:cNvSpPr txBox="1"/>
          <p:nvPr/>
        </p:nvSpPr>
        <p:spPr>
          <a:xfrm>
            <a:off x="822960" y="1645920"/>
            <a:ext cx="4892040" cy="868680"/>
          </a:xfrm>
          <a:prstGeom prst="rect">
            <a:avLst/>
          </a:prstGeom>
          <a:noFill/>
          <a:ln/>
        </p:spPr>
        <p:txBody>
          <a:bodyPr wrap="square" lIns="0" tIns="0" rIns="0" bIns="0" rtlCol="0" anchor="ctr"/>
          <a:lstStyle/>
          <a:p>
            <a:pPr indent="0" marL="0">
              <a:buNone/>
            </a:pPr>
            <a:r>
              <a:rPr lang="en-US" sz="4000" b="1" dirty="0">
                <a:solidFill>
                  <a:schemeClr val="accent2"/>
                </a:solidFill>
              </a:rPr>
              <a:t>–</a:t>
            </a:r>
            <a:endParaRPr lang="en-US" sz="4000" dirty="0"/>
          </a:p>
        </p:txBody>
      </p:sp>
      <p:sp>
        <p:nvSpPr>
          <p:cNvPr id="5" name="Text 3"/>
          <p:cNvSpPr txBox="1"/>
          <p:nvPr/>
        </p:nvSpPr>
        <p:spPr>
          <a:xfrm>
            <a:off x="822960" y="2560320"/>
            <a:ext cx="4892040" cy="868680"/>
          </a:xfrm>
          <a:prstGeom prst="rect">
            <a:avLst/>
          </a:prstGeom>
          <a:noFill/>
          <a:ln/>
        </p:spPr>
        <p:txBody>
          <a:bodyPr wrap="square" lIns="0" tIns="0" rIns="0" bIns="0" rtlCol="0" anchor="t"/>
          <a:lstStyle/>
          <a:p>
            <a:pPr indent="0" marL="0">
              <a:buNone/>
            </a:pPr>
            <a:r>
              <a:rPr lang="en-US" sz="1400" dirty="0">
                <a:solidFill>
                  <a:schemeClr val="tx1"/>
                </a:solidFill>
              </a:rPr>
              <a:t>more output tokens with a hint, for thinking models, even when the answer stays the same</a:t>
            </a:r>
            <a:endParaRPr lang="en-US" sz="1400" dirty="0"/>
          </a:p>
        </p:txBody>
      </p:sp>
      <p:sp>
        <p:nvSpPr>
          <p:cNvPr id="6" name="finding2"/>
          <p:cNvSpPr/>
          <p:nvPr/>
        </p:nvSpPr>
        <p:spPr>
          <a:xfrm>
            <a:off x="6172200" y="1371600"/>
            <a:ext cx="5440680" cy="2240280"/>
          </a:xfrm>
          <a:prstGeom prst="roundRect">
            <a:avLst>
              <a:gd name="adj" fmla="val 3265"/>
            </a:avLst>
          </a:prstGeom>
          <a:solidFill>
            <a:schemeClr val="bg2"/>
          </a:solidFill>
          <a:ln/>
        </p:spPr>
      </p:sp>
      <p:sp>
        <p:nvSpPr>
          <p:cNvPr id="7" name="Text 5"/>
          <p:cNvSpPr txBox="1"/>
          <p:nvPr/>
        </p:nvSpPr>
        <p:spPr>
          <a:xfrm>
            <a:off x="6446520" y="1645920"/>
            <a:ext cx="4892040" cy="868680"/>
          </a:xfrm>
          <a:prstGeom prst="rect">
            <a:avLst/>
          </a:prstGeom>
          <a:noFill/>
          <a:ln/>
        </p:spPr>
        <p:txBody>
          <a:bodyPr wrap="square" lIns="0" tIns="0" rIns="0" bIns="0" rtlCol="0" anchor="ctr"/>
          <a:lstStyle/>
          <a:p>
            <a:pPr indent="0" marL="0">
              <a:buNone/>
            </a:pPr>
            <a:r>
              <a:rPr lang="en-US" sz="4000" b="1" dirty="0">
                <a:solidFill>
                  <a:schemeClr val="accent1"/>
                </a:solidFill>
              </a:rPr>
              <a:t>–</a:t>
            </a:r>
            <a:endParaRPr lang="en-US" sz="4000" dirty="0"/>
          </a:p>
        </p:txBody>
      </p:sp>
      <p:sp>
        <p:nvSpPr>
          <p:cNvPr id="8" name="Text 6"/>
          <p:cNvSpPr txBox="1"/>
          <p:nvPr/>
        </p:nvSpPr>
        <p:spPr>
          <a:xfrm>
            <a:off x="6446520" y="2560320"/>
            <a:ext cx="4892040" cy="868680"/>
          </a:xfrm>
          <a:prstGeom prst="rect">
            <a:avLst/>
          </a:prstGeom>
          <a:noFill/>
          <a:ln/>
        </p:spPr>
        <p:txBody>
          <a:bodyPr wrap="square" lIns="0" tIns="0" rIns="0" bIns="0" rtlCol="0" anchor="t"/>
          <a:lstStyle/>
          <a:p>
            <a:pPr indent="0" marL="0">
              <a:buNone/>
            </a:pPr>
            <a:r>
              <a:rPr lang="en-US" sz="1400" dirty="0">
                <a:solidFill>
                  <a:schemeClr val="tx1"/>
                </a:solidFill>
              </a:rPr>
              <a:t>of “answer only, don’t explain” prompts still produced a private trace on thinking models</a:t>
            </a:r>
            <a:endParaRPr lang="en-US" sz="1400" dirty="0"/>
          </a:p>
        </p:txBody>
      </p:sp>
      <p:sp>
        <p:nvSpPr>
          <p:cNvPr id="9" name="finding3"/>
          <p:cNvSpPr/>
          <p:nvPr/>
        </p:nvSpPr>
        <p:spPr>
          <a:xfrm>
            <a:off x="548640" y="3794760"/>
            <a:ext cx="5440680" cy="2240280"/>
          </a:xfrm>
          <a:prstGeom prst="roundRect">
            <a:avLst>
              <a:gd name="adj" fmla="val 3265"/>
            </a:avLst>
          </a:prstGeom>
          <a:solidFill>
            <a:schemeClr val="bg2"/>
          </a:solidFill>
          <a:ln/>
        </p:spPr>
      </p:sp>
      <p:sp>
        <p:nvSpPr>
          <p:cNvPr id="10" name="Text 8"/>
          <p:cNvSpPr txBox="1"/>
          <p:nvPr/>
        </p:nvSpPr>
        <p:spPr>
          <a:xfrm>
            <a:off x="822960" y="4069080"/>
            <a:ext cx="4892040" cy="868680"/>
          </a:xfrm>
          <a:prstGeom prst="rect">
            <a:avLst/>
          </a:prstGeom>
          <a:noFill/>
          <a:ln/>
        </p:spPr>
        <p:txBody>
          <a:bodyPr wrap="square" lIns="0" tIns="0" rIns="0" bIns="0" rtlCol="0" anchor="ctr"/>
          <a:lstStyle/>
          <a:p>
            <a:pPr indent="0" marL="0">
              <a:buNone/>
            </a:pPr>
            <a:r>
              <a:rPr lang="en-US" sz="4000" b="1" dirty="0">
                <a:solidFill>
                  <a:schemeClr val="accent2"/>
                </a:solidFill>
              </a:rPr>
              <a:t>10 / 10</a:t>
            </a:r>
            <a:endParaRPr lang="en-US" sz="4000" dirty="0"/>
          </a:p>
        </p:txBody>
      </p:sp>
      <p:sp>
        <p:nvSpPr>
          <p:cNvPr id="11" name="Text 9"/>
          <p:cNvSpPr txBox="1"/>
          <p:nvPr/>
        </p:nvSpPr>
        <p:spPr>
          <a:xfrm>
            <a:off x="822960" y="4983480"/>
            <a:ext cx="4892040" cy="868680"/>
          </a:xfrm>
          <a:prstGeom prst="rect">
            <a:avLst/>
          </a:prstGeom>
          <a:noFill/>
          <a:ln/>
        </p:spPr>
        <p:txBody>
          <a:bodyPr wrap="square" lIns="0" tIns="0" rIns="0" bIns="0" rtlCol="0" anchor="t"/>
          <a:lstStyle/>
          <a:p>
            <a:pPr indent="0" marL="0">
              <a:buNone/>
            </a:pPr>
            <a:r>
              <a:rPr lang="en-US" sz="1400" dirty="0">
                <a:solidFill>
                  <a:schemeClr val="tx1"/>
                </a:solidFill>
              </a:rPr>
              <a:t>responses cut off at the token limit dumped the private trace into the visible answer (~27k characters)</a:t>
            </a:r>
            <a:endParaRPr lang="en-US" sz="1400" dirty="0"/>
          </a:p>
        </p:txBody>
      </p:sp>
      <p:sp>
        <p:nvSpPr>
          <p:cNvPr id="12" name="finding4"/>
          <p:cNvSpPr/>
          <p:nvPr/>
        </p:nvSpPr>
        <p:spPr>
          <a:xfrm>
            <a:off x="6172200" y="3794760"/>
            <a:ext cx="5440680" cy="2240280"/>
          </a:xfrm>
          <a:prstGeom prst="roundRect">
            <a:avLst>
              <a:gd name="adj" fmla="val 3265"/>
            </a:avLst>
          </a:prstGeom>
          <a:solidFill>
            <a:schemeClr val="bg2"/>
          </a:solidFill>
          <a:ln/>
        </p:spPr>
      </p:sp>
      <p:sp>
        <p:nvSpPr>
          <p:cNvPr id="13" name="Text 11"/>
          <p:cNvSpPr txBox="1"/>
          <p:nvPr/>
        </p:nvSpPr>
        <p:spPr>
          <a:xfrm>
            <a:off x="6446520" y="4069080"/>
            <a:ext cx="4892040" cy="868680"/>
          </a:xfrm>
          <a:prstGeom prst="rect">
            <a:avLst/>
          </a:prstGeom>
          <a:noFill/>
          <a:ln/>
        </p:spPr>
        <p:txBody>
          <a:bodyPr wrap="square" lIns="0" tIns="0" rIns="0" bIns="0" rtlCol="0" anchor="ctr"/>
          <a:lstStyle/>
          <a:p>
            <a:pPr indent="0" marL="0">
              <a:buNone/>
            </a:pPr>
            <a:r>
              <a:rPr lang="en-US" sz="4000" b="1" dirty="0">
                <a:solidFill>
                  <a:schemeClr val="accent1"/>
                </a:solidFill>
              </a:rPr>
              <a:t>–</a:t>
            </a:r>
            <a:endParaRPr lang="en-US" sz="4000" dirty="0"/>
          </a:p>
        </p:txBody>
      </p:sp>
      <p:sp>
        <p:nvSpPr>
          <p:cNvPr id="14" name="Text 12"/>
          <p:cNvSpPr txBox="1"/>
          <p:nvPr/>
        </p:nvSpPr>
        <p:spPr>
          <a:xfrm>
            <a:off x="6446520" y="4983480"/>
            <a:ext cx="4892040" cy="868680"/>
          </a:xfrm>
          <a:prstGeom prst="rect">
            <a:avLst/>
          </a:prstGeom>
          <a:noFill/>
          <a:ln/>
        </p:spPr>
        <p:txBody>
          <a:bodyPr wrap="square" lIns="0" tIns="0" rIns="0" bIns="0" rtlCol="0" anchor="t"/>
          <a:lstStyle/>
          <a:p>
            <a:pPr indent="0" marL="0">
              <a:buNone/>
            </a:pPr>
            <a:r>
              <a:rPr lang="en-US" sz="1400" dirty="0">
                <a:solidFill>
                  <a:schemeClr val="tx1"/>
                </a:solidFill>
              </a:rPr>
              <a:t>trace length when asked to “think briefly”, on the same checkpoint: one way to vary reasoning without changing models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Risks and how we’re handling them</a:t>
            </a:r>
            <a:endParaRPr lang="en-US" sz="3000" dirty="0"/>
          </a:p>
        </p:txBody>
      </p:sp>
      <p:sp>
        <p:nvSpPr>
          <p:cNvPr id="3" name="risk1-circle"/>
          <p:cNvSpPr/>
          <p:nvPr/>
        </p:nvSpPr>
        <p:spPr>
          <a:xfrm>
            <a:off x="548640" y="1371600"/>
            <a:ext cx="777240" cy="777240"/>
          </a:xfrm>
          <a:prstGeom prst="ellipse">
            <a:avLst/>
          </a:prstGeom>
          <a:solidFill>
            <a:schemeClr val="accent2">
              <a:alpha val="16000"/>
            </a:schemeClr>
          </a:solidFill>
          <a:ln/>
        </p:spPr>
      </p:sp>
      <p:pic>
        <p:nvPicPr>
          <p:cNvPr id="4" name="risk1-icon" descr="preencoded.png">    </p:cNvPr>
          <p:cNvPicPr>
            <a:picLocks noChangeAspect="1"/>
          </p:cNvPicPr>
          <p:nvPr/>
        </p:nvPicPr>
        <p:blipFill>
          <a:blip r:embed="rId1"/>
          <a:stretch>
            <a:fillRect/>
          </a:stretch>
        </p:blipFill>
        <p:spPr>
          <a:xfrm>
            <a:off x="750722" y="1573682"/>
            <a:ext cx="373075" cy="373075"/>
          </a:xfrm>
          <a:prstGeom prst="rect">
            <a:avLst/>
          </a:prstGeom>
        </p:spPr>
      </p:pic>
      <p:sp>
        <p:nvSpPr>
          <p:cNvPr id="5" name="Text 2"/>
          <p:cNvSpPr txBox="1"/>
          <p:nvPr/>
        </p:nvSpPr>
        <p:spPr>
          <a:xfrm>
            <a:off x="1554480" y="1325880"/>
            <a:ext cx="9966960" cy="384048"/>
          </a:xfrm>
          <a:prstGeom prst="rect">
            <a:avLst/>
          </a:prstGeom>
          <a:noFill/>
          <a:ln/>
        </p:spPr>
        <p:txBody>
          <a:bodyPr wrap="square" lIns="0" tIns="0" rIns="0" bIns="0" rtlCol="0" anchor="ctr"/>
          <a:lstStyle/>
          <a:p>
            <a:pPr indent="0" marL="0">
              <a:buNone/>
            </a:pPr>
            <a:r>
              <a:rPr lang="en-US" sz="1600" b="1" dirty="0">
                <a:solidFill>
                  <a:schemeClr val="tx1"/>
                </a:solidFill>
              </a:rPr>
              <a:t>Thinking can’t be switched off on Voyager</a:t>
            </a:r>
            <a:endParaRPr lang="en-US" sz="1600" dirty="0"/>
          </a:p>
        </p:txBody>
      </p:sp>
      <p:sp>
        <p:nvSpPr>
          <p:cNvPr id="6" name="Text 3"/>
          <p:cNvSpPr txBox="1"/>
          <p:nvPr/>
        </p:nvSpPr>
        <p:spPr>
          <a:xfrm>
            <a:off x="1554480" y="1719072"/>
            <a:ext cx="9966960" cy="731520"/>
          </a:xfrm>
          <a:prstGeom prst="rect">
            <a:avLst/>
          </a:prstGeom>
          <a:noFill/>
          <a:ln/>
        </p:spPr>
        <p:txBody>
          <a:bodyPr wrap="square" lIns="0" tIns="0" rIns="0" bIns="0" rtlCol="0" anchor="t"/>
          <a:lstStyle/>
          <a:p>
            <a:pPr indent="0" marL="0">
              <a:buNone/>
            </a:pPr>
            <a:r>
              <a:rPr lang="en-US" sz="1300" dirty="0">
                <a:solidFill>
                  <a:schemeClr val="accent5"/>
                </a:solidFill>
              </a:rPr>
              <a:t>We tested 7 models; the setting is ignored. We treat pairs as differently trained models, add “think briefly” on the same checkpoint, and could self-host on Sol if GPU time is available.</a:t>
            </a:r>
            <a:endParaRPr lang="en-US" sz="1300" dirty="0"/>
          </a:p>
        </p:txBody>
      </p:sp>
      <p:sp>
        <p:nvSpPr>
          <p:cNvPr id="7" name="risk2-circle"/>
          <p:cNvSpPr/>
          <p:nvPr/>
        </p:nvSpPr>
        <p:spPr>
          <a:xfrm>
            <a:off x="548640" y="2606040"/>
            <a:ext cx="777240" cy="777240"/>
          </a:xfrm>
          <a:prstGeom prst="ellipse">
            <a:avLst/>
          </a:prstGeom>
          <a:solidFill>
            <a:schemeClr val="accent1">
              <a:alpha val="16000"/>
            </a:schemeClr>
          </a:solidFill>
          <a:ln/>
        </p:spPr>
      </p:sp>
      <p:pic>
        <p:nvPicPr>
          <p:cNvPr id="8" name="risk2-icon" descr="preencoded.png">    </p:cNvPr>
          <p:cNvPicPr>
            <a:picLocks noChangeAspect="1"/>
          </p:cNvPicPr>
          <p:nvPr/>
        </p:nvPicPr>
        <p:blipFill>
          <a:blip r:embed="rId2"/>
          <a:stretch>
            <a:fillRect/>
          </a:stretch>
        </p:blipFill>
        <p:spPr>
          <a:xfrm>
            <a:off x="750722" y="2808122"/>
            <a:ext cx="373075" cy="373075"/>
          </a:xfrm>
          <a:prstGeom prst="rect">
            <a:avLst/>
          </a:prstGeom>
        </p:spPr>
      </p:pic>
      <p:sp>
        <p:nvSpPr>
          <p:cNvPr id="9" name="Text 5"/>
          <p:cNvSpPr txBox="1"/>
          <p:nvPr/>
        </p:nvSpPr>
        <p:spPr>
          <a:xfrm>
            <a:off x="1554480" y="2560320"/>
            <a:ext cx="9966960" cy="384048"/>
          </a:xfrm>
          <a:prstGeom prst="rect">
            <a:avLst/>
          </a:prstGeom>
          <a:noFill/>
          <a:ln/>
        </p:spPr>
        <p:txBody>
          <a:bodyPr wrap="square" lIns="0" tIns="0" rIns="0" bIns="0" rtlCol="0" anchor="ctr"/>
          <a:lstStyle/>
          <a:p>
            <a:pPr indent="0" marL="0">
              <a:buNone/>
            </a:pPr>
            <a:r>
              <a:rPr lang="en-US" sz="1600" b="1" dirty="0">
                <a:solidFill>
                  <a:schemeClr val="tx1"/>
                </a:solidFill>
              </a:rPr>
              <a:t>The hint barely moves answers on this task</a:t>
            </a:r>
            <a:endParaRPr lang="en-US" sz="1600" dirty="0"/>
          </a:p>
        </p:txBody>
      </p:sp>
      <p:sp>
        <p:nvSpPr>
          <p:cNvPr id="10" name="Text 6"/>
          <p:cNvSpPr txBox="1"/>
          <p:nvPr/>
        </p:nvSpPr>
        <p:spPr>
          <a:xfrm>
            <a:off x="1554480" y="2953512"/>
            <a:ext cx="9966960" cy="731520"/>
          </a:xfrm>
          <a:prstGeom prst="rect">
            <a:avLst/>
          </a:prstGeom>
          <a:noFill/>
          <a:ln/>
        </p:spPr>
        <p:txBody>
          <a:bodyPr wrap="square" lIns="0" tIns="0" rIns="0" bIns="0" rtlCol="0" anchor="t"/>
          <a:lstStyle/>
          <a:p>
            <a:pPr indent="0" marL="0">
              <a:buNone/>
            </a:pPr>
            <a:r>
              <a:rPr lang="en-US" sz="1300" dirty="0">
                <a:solidFill>
                  <a:schemeClr val="accent5"/>
                </a:solidFill>
              </a:rPr>
              <a:t>Add ambiguous questions (BBQ) and BBH tasks where hints have room to work. A well-controlled null result still counts.</a:t>
            </a:r>
            <a:endParaRPr lang="en-US" sz="1300" dirty="0"/>
          </a:p>
        </p:txBody>
      </p:sp>
      <p:sp>
        <p:nvSpPr>
          <p:cNvPr id="11" name="risk3-circle"/>
          <p:cNvSpPr/>
          <p:nvPr/>
        </p:nvSpPr>
        <p:spPr>
          <a:xfrm>
            <a:off x="548640" y="3840480"/>
            <a:ext cx="777240" cy="777240"/>
          </a:xfrm>
          <a:prstGeom prst="ellipse">
            <a:avLst/>
          </a:prstGeom>
          <a:solidFill>
            <a:schemeClr val="accent2">
              <a:alpha val="16000"/>
            </a:schemeClr>
          </a:solidFill>
          <a:ln/>
        </p:spPr>
      </p:sp>
      <p:pic>
        <p:nvPicPr>
          <p:cNvPr id="12" name="risk3-icon" descr="preencoded.png">    </p:cNvPr>
          <p:cNvPicPr>
            <a:picLocks noChangeAspect="1"/>
          </p:cNvPicPr>
          <p:nvPr/>
        </p:nvPicPr>
        <p:blipFill>
          <a:blip r:embed="rId3"/>
          <a:stretch>
            <a:fillRect/>
          </a:stretch>
        </p:blipFill>
        <p:spPr>
          <a:xfrm>
            <a:off x="750722" y="4042562"/>
            <a:ext cx="373075" cy="373075"/>
          </a:xfrm>
          <a:prstGeom prst="rect">
            <a:avLst/>
          </a:prstGeom>
        </p:spPr>
      </p:pic>
      <p:sp>
        <p:nvSpPr>
          <p:cNvPr id="13" name="Text 8"/>
          <p:cNvSpPr txBox="1"/>
          <p:nvPr/>
        </p:nvSpPr>
        <p:spPr>
          <a:xfrm>
            <a:off x="1554480" y="3794760"/>
            <a:ext cx="9966960" cy="384048"/>
          </a:xfrm>
          <a:prstGeom prst="rect">
            <a:avLst/>
          </a:prstGeom>
          <a:noFill/>
          <a:ln/>
        </p:spPr>
        <p:txBody>
          <a:bodyPr wrap="square" lIns="0" tIns="0" rIns="0" bIns="0" rtlCol="0" anchor="ctr"/>
          <a:lstStyle/>
          <a:p>
            <a:pPr indent="0" marL="0">
              <a:buNone/>
            </a:pPr>
            <a:r>
              <a:rPr lang="en-US" sz="1600" b="1" dirty="0">
                <a:solidFill>
                  <a:schemeClr val="tx1"/>
                </a:solidFill>
              </a:rPr>
              <a:t>A keyword detector can’t tell mention from admission</a:t>
            </a:r>
            <a:endParaRPr lang="en-US" sz="1600" dirty="0"/>
          </a:p>
        </p:txBody>
      </p:sp>
      <p:sp>
        <p:nvSpPr>
          <p:cNvPr id="14" name="Text 9"/>
          <p:cNvSpPr txBox="1"/>
          <p:nvPr/>
        </p:nvSpPr>
        <p:spPr>
          <a:xfrm>
            <a:off x="1554480" y="4187952"/>
            <a:ext cx="9966960" cy="731520"/>
          </a:xfrm>
          <a:prstGeom prst="rect">
            <a:avLst/>
          </a:prstGeom>
          <a:noFill/>
          <a:ln/>
        </p:spPr>
        <p:txBody>
          <a:bodyPr wrap="square" lIns="0" tIns="0" rIns="0" bIns="0" rtlCol="0" anchor="t"/>
          <a:lstStyle/>
          <a:p>
            <a:pPr indent="0" marL="0">
              <a:buNone/>
            </a:pPr>
            <a:r>
              <a:rPr lang="en-US" sz="1300" dirty="0">
                <a:solidFill>
                  <a:schemeClr val="accent5"/>
                </a:solidFill>
              </a:rPr>
              <a:t>Three-level manual labels (none / mentions / admits influence) on 200 cases, two raters, with agreement (Cohen’s κ) reported.</a:t>
            </a:r>
            <a:endParaRPr lang="en-US" sz="1300" dirty="0"/>
          </a:p>
        </p:txBody>
      </p:sp>
      <p:sp>
        <p:nvSpPr>
          <p:cNvPr id="15" name="risk4-circle"/>
          <p:cNvSpPr/>
          <p:nvPr/>
        </p:nvSpPr>
        <p:spPr>
          <a:xfrm>
            <a:off x="548640" y="5074920"/>
            <a:ext cx="777240" cy="777240"/>
          </a:xfrm>
          <a:prstGeom prst="ellipse">
            <a:avLst/>
          </a:prstGeom>
          <a:solidFill>
            <a:schemeClr val="accent1">
              <a:alpha val="16000"/>
            </a:schemeClr>
          </a:solidFill>
          <a:ln/>
        </p:spPr>
      </p:sp>
      <p:pic>
        <p:nvPicPr>
          <p:cNvPr id="16" name="risk4-icon" descr="preencoded.png">    </p:cNvPr>
          <p:cNvPicPr>
            <a:picLocks noChangeAspect="1"/>
          </p:cNvPicPr>
          <p:nvPr/>
        </p:nvPicPr>
        <p:blipFill>
          <a:blip r:embed="rId4"/>
          <a:stretch>
            <a:fillRect/>
          </a:stretch>
        </p:blipFill>
        <p:spPr>
          <a:xfrm>
            <a:off x="750722" y="5277002"/>
            <a:ext cx="373075" cy="373075"/>
          </a:xfrm>
          <a:prstGeom prst="rect">
            <a:avLst/>
          </a:prstGeom>
        </p:spPr>
      </p:pic>
      <p:sp>
        <p:nvSpPr>
          <p:cNvPr id="17" name="Text 11"/>
          <p:cNvSpPr txBox="1"/>
          <p:nvPr/>
        </p:nvSpPr>
        <p:spPr>
          <a:xfrm>
            <a:off x="1554480" y="5029200"/>
            <a:ext cx="9966960" cy="384048"/>
          </a:xfrm>
          <a:prstGeom prst="rect">
            <a:avLst/>
          </a:prstGeom>
          <a:noFill/>
          <a:ln/>
        </p:spPr>
        <p:txBody>
          <a:bodyPr wrap="square" lIns="0" tIns="0" rIns="0" bIns="0" rtlCol="0" anchor="ctr"/>
          <a:lstStyle/>
          <a:p>
            <a:pPr indent="0" marL="0">
              <a:buNone/>
            </a:pPr>
            <a:r>
              <a:rPr lang="en-US" sz="1600" b="1" dirty="0">
                <a:solidFill>
                  <a:schemeClr val="tx1"/>
                </a:solidFill>
              </a:rPr>
              <a:t>Thinking costs about 3× the tokens</a:t>
            </a:r>
            <a:endParaRPr lang="en-US" sz="1600" dirty="0"/>
          </a:p>
        </p:txBody>
      </p:sp>
      <p:sp>
        <p:nvSpPr>
          <p:cNvPr id="18" name="Text 12"/>
          <p:cNvSpPr txBox="1"/>
          <p:nvPr/>
        </p:nvSpPr>
        <p:spPr>
          <a:xfrm>
            <a:off x="1554480" y="5422392"/>
            <a:ext cx="9966960" cy="731520"/>
          </a:xfrm>
          <a:prstGeom prst="rect">
            <a:avLst/>
          </a:prstGeom>
          <a:noFill/>
          <a:ln/>
        </p:spPr>
        <p:txBody>
          <a:bodyPr wrap="square" lIns="0" tIns="0" rIns="0" bIns="0" rtlCol="0" anchor="t"/>
          <a:lstStyle/>
          <a:p>
            <a:pPr indent="0" marL="0">
              <a:buNone/>
            </a:pPr>
            <a:r>
              <a:rPr lang="en-US" sz="1300" dirty="0">
                <a:solidFill>
                  <a:schemeClr val="accent5"/>
                </a:solidFill>
              </a:rPr>
              <a:t>The full proposed design is ~180M output tokens. We’ll cut it to ~55M, run a timed budget test first, and keep streaming to avoid server timeouts.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Next steps</a:t>
            </a:r>
            <a:endParaRPr lang="en-US" sz="3000" dirty="0"/>
          </a:p>
        </p:txBody>
      </p:sp>
      <p:sp>
        <p:nvSpPr>
          <p:cNvPr id="3" name="chev1"/>
          <p:cNvSpPr/>
          <p:nvPr/>
        </p:nvSpPr>
        <p:spPr>
          <a:xfrm>
            <a:off x="548640" y="1463040"/>
            <a:ext cx="2286000" cy="822960"/>
          </a:xfrm>
          <a:prstGeom prst="chevron">
            <a:avLst/>
          </a:prstGeom>
          <a:solidFill>
            <a:schemeClr val="accent1">
              <a:alpha val="85000"/>
            </a:schemeClr>
          </a:solidFill>
          <a:ln/>
        </p:spPr>
      </p:sp>
      <p:sp>
        <p:nvSpPr>
          <p:cNvPr id="4" name="Text 2"/>
          <p:cNvSpPr txBox="1"/>
          <p:nvPr/>
        </p:nvSpPr>
        <p:spPr>
          <a:xfrm>
            <a:off x="868680" y="1463040"/>
            <a:ext cx="1645920" cy="822960"/>
          </a:xfrm>
          <a:prstGeom prst="rect">
            <a:avLst/>
          </a:prstGeom>
          <a:noFill/>
          <a:ln/>
        </p:spPr>
        <p:txBody>
          <a:bodyPr wrap="square" lIns="0" tIns="0" rIns="0" bIns="0" rtlCol="0" anchor="ctr"/>
          <a:lstStyle/>
          <a:p>
            <a:pPr algn="ctr" indent="0" marL="0">
              <a:buNone/>
            </a:pPr>
            <a:r>
              <a:rPr lang="en-US" sz="1500" b="1" dirty="0">
                <a:solidFill>
                  <a:schemeClr val="bg1"/>
                </a:solidFill>
              </a:rPr>
              <a:t>Week 9</a:t>
            </a:r>
            <a:endParaRPr lang="en-US" sz="1500" dirty="0"/>
          </a:p>
        </p:txBody>
      </p:sp>
      <p:sp>
        <p:nvSpPr>
          <p:cNvPr id="5" name="Text 3"/>
          <p:cNvSpPr txBox="1"/>
          <p:nvPr/>
        </p:nvSpPr>
        <p:spPr>
          <a:xfrm>
            <a:off x="640080" y="2423160"/>
            <a:ext cx="2011680" cy="1188720"/>
          </a:xfrm>
          <a:prstGeom prst="rect">
            <a:avLst/>
          </a:prstGeom>
          <a:noFill/>
          <a:ln/>
        </p:spPr>
        <p:txBody>
          <a:bodyPr wrap="square" lIns="0" tIns="0" rIns="0" bIns="0" rtlCol="0" anchor="t"/>
          <a:lstStyle/>
          <a:p>
            <a:pPr algn="ctr" indent="0" marL="0">
              <a:buNone/>
            </a:pPr>
            <a:r>
              <a:rPr lang="en-US" sz="1300" dirty="0">
                <a:solidFill>
                  <a:schemeClr val="tx1"/>
                </a:solidFill>
              </a:rPr>
              <a:t>Add BBQ + BBH · timed budget run · freeze prompts</a:t>
            </a:r>
            <a:endParaRPr lang="en-US" sz="1300" dirty="0"/>
          </a:p>
        </p:txBody>
      </p:sp>
      <p:sp>
        <p:nvSpPr>
          <p:cNvPr id="6" name="chev2"/>
          <p:cNvSpPr/>
          <p:nvPr/>
        </p:nvSpPr>
        <p:spPr>
          <a:xfrm>
            <a:off x="2743200" y="1463040"/>
            <a:ext cx="2286000" cy="822960"/>
          </a:xfrm>
          <a:prstGeom prst="chevron">
            <a:avLst/>
          </a:prstGeom>
          <a:solidFill>
            <a:schemeClr val="accent2">
              <a:alpha val="85000"/>
            </a:schemeClr>
          </a:solidFill>
          <a:ln/>
        </p:spPr>
      </p:sp>
      <p:sp>
        <p:nvSpPr>
          <p:cNvPr id="7" name="Text 5"/>
          <p:cNvSpPr txBox="1"/>
          <p:nvPr/>
        </p:nvSpPr>
        <p:spPr>
          <a:xfrm>
            <a:off x="3063240" y="1463040"/>
            <a:ext cx="1645920" cy="822960"/>
          </a:xfrm>
          <a:prstGeom prst="rect">
            <a:avLst/>
          </a:prstGeom>
          <a:noFill/>
          <a:ln/>
        </p:spPr>
        <p:txBody>
          <a:bodyPr wrap="square" lIns="0" tIns="0" rIns="0" bIns="0" rtlCol="0" anchor="ctr"/>
          <a:lstStyle/>
          <a:p>
            <a:pPr algn="ctr" indent="0" marL="0">
              <a:buNone/>
            </a:pPr>
            <a:r>
              <a:rPr lang="en-US" sz="1500" b="1" dirty="0">
                <a:solidFill>
                  <a:schemeClr val="bg1"/>
                </a:solidFill>
              </a:rPr>
              <a:t>Weeks 10–11</a:t>
            </a:r>
            <a:endParaRPr lang="en-US" sz="1500" dirty="0"/>
          </a:p>
        </p:txBody>
      </p:sp>
      <p:sp>
        <p:nvSpPr>
          <p:cNvPr id="8" name="Text 6"/>
          <p:cNvSpPr txBox="1"/>
          <p:nvPr/>
        </p:nvSpPr>
        <p:spPr>
          <a:xfrm>
            <a:off x="2834640" y="2423160"/>
            <a:ext cx="2011680" cy="1188720"/>
          </a:xfrm>
          <a:prstGeom prst="rect">
            <a:avLst/>
          </a:prstGeom>
          <a:noFill/>
          <a:ln/>
        </p:spPr>
        <p:txBody>
          <a:bodyPr wrap="square" lIns="0" tIns="0" rIns="0" bIns="0" rtlCol="0" anchor="t"/>
          <a:lstStyle/>
          <a:p>
            <a:pPr algn="ctr" indent="0" marL="0">
              <a:buNone/>
            </a:pPr>
            <a:r>
              <a:rPr lang="en-US" sz="1300" dirty="0">
                <a:solidFill>
                  <a:schemeClr val="tx1"/>
                </a:solidFill>
              </a:rPr>
              <a:t>Core sweep · hand-label 200 cases (2 raters)</a:t>
            </a:r>
            <a:endParaRPr lang="en-US" sz="1300" dirty="0"/>
          </a:p>
        </p:txBody>
      </p:sp>
      <p:sp>
        <p:nvSpPr>
          <p:cNvPr id="9" name="chev3"/>
          <p:cNvSpPr/>
          <p:nvPr/>
        </p:nvSpPr>
        <p:spPr>
          <a:xfrm>
            <a:off x="4937760" y="1463040"/>
            <a:ext cx="2286000" cy="822960"/>
          </a:xfrm>
          <a:prstGeom prst="chevron">
            <a:avLst/>
          </a:prstGeom>
          <a:solidFill>
            <a:schemeClr val="accent1">
              <a:alpha val="85000"/>
            </a:schemeClr>
          </a:solidFill>
          <a:ln/>
        </p:spPr>
      </p:sp>
      <p:sp>
        <p:nvSpPr>
          <p:cNvPr id="10" name="Text 8"/>
          <p:cNvSpPr txBox="1"/>
          <p:nvPr/>
        </p:nvSpPr>
        <p:spPr>
          <a:xfrm>
            <a:off x="5257800" y="1463040"/>
            <a:ext cx="1645920" cy="822960"/>
          </a:xfrm>
          <a:prstGeom prst="rect">
            <a:avLst/>
          </a:prstGeom>
          <a:noFill/>
          <a:ln/>
        </p:spPr>
        <p:txBody>
          <a:bodyPr wrap="square" lIns="0" tIns="0" rIns="0" bIns="0" rtlCol="0" anchor="ctr"/>
          <a:lstStyle/>
          <a:p>
            <a:pPr algn="ctr" indent="0" marL="0">
              <a:buNone/>
            </a:pPr>
            <a:r>
              <a:rPr lang="en-US" sz="1500" b="1" dirty="0">
                <a:solidFill>
                  <a:schemeClr val="bg1"/>
                </a:solidFill>
              </a:rPr>
              <a:t>Weeks 12–13</a:t>
            </a:r>
            <a:endParaRPr lang="en-US" sz="1500" dirty="0"/>
          </a:p>
        </p:txBody>
      </p:sp>
      <p:sp>
        <p:nvSpPr>
          <p:cNvPr id="11" name="Text 9"/>
          <p:cNvSpPr txBox="1"/>
          <p:nvPr/>
        </p:nvSpPr>
        <p:spPr>
          <a:xfrm>
            <a:off x="5029200" y="2423160"/>
            <a:ext cx="2011680" cy="1188720"/>
          </a:xfrm>
          <a:prstGeom prst="rect">
            <a:avLst/>
          </a:prstGeom>
          <a:noFill/>
          <a:ln/>
        </p:spPr>
        <p:txBody>
          <a:bodyPr wrap="square" lIns="0" tIns="0" rIns="0" bIns="0" rtlCol="0" anchor="t"/>
          <a:lstStyle/>
          <a:p>
            <a:pPr algn="ctr" indent="0" marL="0">
              <a:buNone/>
            </a:pPr>
            <a:r>
              <a:rPr lang="en-US" sz="1300" dirty="0">
                <a:solidFill>
                  <a:schemeClr val="tx1"/>
                </a:solidFill>
              </a:rPr>
              <a:t>Two-agent extension: hinted answer → reviewer</a:t>
            </a:r>
            <a:endParaRPr lang="en-US" sz="1300" dirty="0"/>
          </a:p>
        </p:txBody>
      </p:sp>
      <p:sp>
        <p:nvSpPr>
          <p:cNvPr id="12" name="chev4"/>
          <p:cNvSpPr/>
          <p:nvPr/>
        </p:nvSpPr>
        <p:spPr>
          <a:xfrm>
            <a:off x="7132320" y="1463040"/>
            <a:ext cx="2286000" cy="822960"/>
          </a:xfrm>
          <a:prstGeom prst="chevron">
            <a:avLst/>
          </a:prstGeom>
          <a:solidFill>
            <a:schemeClr val="accent2">
              <a:alpha val="85000"/>
            </a:schemeClr>
          </a:solidFill>
          <a:ln/>
        </p:spPr>
      </p:sp>
      <p:sp>
        <p:nvSpPr>
          <p:cNvPr id="13" name="Text 11"/>
          <p:cNvSpPr txBox="1"/>
          <p:nvPr/>
        </p:nvSpPr>
        <p:spPr>
          <a:xfrm>
            <a:off x="7452360" y="1463040"/>
            <a:ext cx="1645920" cy="822960"/>
          </a:xfrm>
          <a:prstGeom prst="rect">
            <a:avLst/>
          </a:prstGeom>
          <a:noFill/>
          <a:ln/>
        </p:spPr>
        <p:txBody>
          <a:bodyPr wrap="square" lIns="0" tIns="0" rIns="0" bIns="0" rtlCol="0" anchor="ctr"/>
          <a:lstStyle/>
          <a:p>
            <a:pPr algn="ctr" indent="0" marL="0">
              <a:buNone/>
            </a:pPr>
            <a:r>
              <a:rPr lang="en-US" sz="1500" b="1" dirty="0">
                <a:solidFill>
                  <a:schemeClr val="bg1"/>
                </a:solidFill>
              </a:rPr>
              <a:t>Weeks 14–15</a:t>
            </a:r>
            <a:endParaRPr lang="en-US" sz="1500" dirty="0"/>
          </a:p>
        </p:txBody>
      </p:sp>
      <p:sp>
        <p:nvSpPr>
          <p:cNvPr id="14" name="Text 12"/>
          <p:cNvSpPr txBox="1"/>
          <p:nvPr/>
        </p:nvSpPr>
        <p:spPr>
          <a:xfrm>
            <a:off x="7223760" y="2423160"/>
            <a:ext cx="2011680" cy="1188720"/>
          </a:xfrm>
          <a:prstGeom prst="rect">
            <a:avLst/>
          </a:prstGeom>
          <a:noFill/>
          <a:ln/>
        </p:spPr>
        <p:txBody>
          <a:bodyPr wrap="square" lIns="0" tIns="0" rIns="0" bIns="0" rtlCol="0" anchor="t"/>
          <a:lstStyle/>
          <a:p>
            <a:pPr algn="ctr" indent="0" marL="0">
              <a:buNone/>
            </a:pPr>
            <a:r>
              <a:rPr lang="en-US" sz="1300" dirty="0">
                <a:solidFill>
                  <a:schemeClr val="tx1"/>
                </a:solidFill>
              </a:rPr>
              <a:t>Statistics, figures, report draft</a:t>
            </a:r>
            <a:endParaRPr lang="en-US" sz="1300" dirty="0"/>
          </a:p>
        </p:txBody>
      </p:sp>
      <p:sp>
        <p:nvSpPr>
          <p:cNvPr id="15" name="chev5"/>
          <p:cNvSpPr/>
          <p:nvPr/>
        </p:nvSpPr>
        <p:spPr>
          <a:xfrm>
            <a:off x="9326880" y="1463040"/>
            <a:ext cx="2286000" cy="822960"/>
          </a:xfrm>
          <a:prstGeom prst="chevron">
            <a:avLst/>
          </a:prstGeom>
          <a:solidFill>
            <a:schemeClr val="accent1">
              <a:alpha val="85000"/>
            </a:schemeClr>
          </a:solidFill>
          <a:ln/>
        </p:spPr>
      </p:sp>
      <p:sp>
        <p:nvSpPr>
          <p:cNvPr id="16" name="Text 14"/>
          <p:cNvSpPr txBox="1"/>
          <p:nvPr/>
        </p:nvSpPr>
        <p:spPr>
          <a:xfrm>
            <a:off x="9646920" y="1463040"/>
            <a:ext cx="1645920" cy="822960"/>
          </a:xfrm>
          <a:prstGeom prst="rect">
            <a:avLst/>
          </a:prstGeom>
          <a:noFill/>
          <a:ln/>
        </p:spPr>
        <p:txBody>
          <a:bodyPr wrap="square" lIns="0" tIns="0" rIns="0" bIns="0" rtlCol="0" anchor="ctr"/>
          <a:lstStyle/>
          <a:p>
            <a:pPr algn="ctr" indent="0" marL="0">
              <a:buNone/>
            </a:pPr>
            <a:r>
              <a:rPr lang="en-US" sz="1500" b="1" dirty="0">
                <a:solidFill>
                  <a:schemeClr val="bg1"/>
                </a:solidFill>
              </a:rPr>
              <a:t>Week 16</a:t>
            </a:r>
            <a:endParaRPr lang="en-US" sz="1500" dirty="0"/>
          </a:p>
        </p:txBody>
      </p:sp>
      <p:sp>
        <p:nvSpPr>
          <p:cNvPr id="17" name="Text 15"/>
          <p:cNvSpPr txBox="1"/>
          <p:nvPr/>
        </p:nvSpPr>
        <p:spPr>
          <a:xfrm>
            <a:off x="9418320" y="2423160"/>
            <a:ext cx="2011680" cy="1188720"/>
          </a:xfrm>
          <a:prstGeom prst="rect">
            <a:avLst/>
          </a:prstGeom>
          <a:noFill/>
          <a:ln/>
        </p:spPr>
        <p:txBody>
          <a:bodyPr wrap="square" lIns="0" tIns="0" rIns="0" bIns="0" rtlCol="0" anchor="t"/>
          <a:lstStyle/>
          <a:p>
            <a:pPr algn="ctr" indent="0" marL="0">
              <a:buNone/>
            </a:pPr>
            <a:r>
              <a:rPr lang="en-US" sz="1300" dirty="0">
                <a:solidFill>
                  <a:schemeClr val="tx1"/>
                </a:solidFill>
              </a:rPr>
              <a:t>Final presentation</a:t>
            </a:r>
            <a:endParaRPr lang="en-US" sz="1300" dirty="0"/>
          </a:p>
        </p:txBody>
      </p:sp>
      <p:sp>
        <p:nvSpPr>
          <p:cNvPr id="18" name="roles-card"/>
          <p:cNvSpPr/>
          <p:nvPr/>
        </p:nvSpPr>
        <p:spPr>
          <a:xfrm>
            <a:off x="548640" y="3520440"/>
            <a:ext cx="11064240" cy="2377440"/>
          </a:xfrm>
          <a:prstGeom prst="roundRect">
            <a:avLst>
              <a:gd name="adj" fmla="val 3077"/>
            </a:avLst>
          </a:prstGeom>
          <a:solidFill>
            <a:schemeClr val="bg2"/>
          </a:solidFill>
          <a:ln/>
        </p:spPr>
      </p:sp>
      <p:sp>
        <p:nvSpPr>
          <p:cNvPr id="19" name="roles-circle"/>
          <p:cNvSpPr/>
          <p:nvPr/>
        </p:nvSpPr>
        <p:spPr>
          <a:xfrm>
            <a:off x="822960" y="3794760"/>
            <a:ext cx="777240" cy="777240"/>
          </a:xfrm>
          <a:prstGeom prst="ellipse">
            <a:avLst/>
          </a:prstGeom>
          <a:solidFill>
            <a:schemeClr val="accent1">
              <a:alpha val="16000"/>
            </a:schemeClr>
          </a:solidFill>
          <a:ln/>
        </p:spPr>
      </p:sp>
      <p:pic>
        <p:nvPicPr>
          <p:cNvPr id="20" name="roles-icon" descr="preencoded.png">    </p:cNvPr>
          <p:cNvPicPr>
            <a:picLocks noChangeAspect="1"/>
          </p:cNvPicPr>
          <p:nvPr/>
        </p:nvPicPr>
        <p:blipFill>
          <a:blip r:embed="rId1"/>
          <a:stretch>
            <a:fillRect/>
          </a:stretch>
        </p:blipFill>
        <p:spPr>
          <a:xfrm>
            <a:off x="1025042" y="3996842"/>
            <a:ext cx="373075" cy="373075"/>
          </a:xfrm>
          <a:prstGeom prst="rect">
            <a:avLst/>
          </a:prstGeom>
        </p:spPr>
      </p:pic>
      <p:sp>
        <p:nvSpPr>
          <p:cNvPr id="21" name="Text 18"/>
          <p:cNvSpPr txBox="1"/>
          <p:nvPr/>
        </p:nvSpPr>
        <p:spPr>
          <a:xfrm>
            <a:off x="1828800" y="3749040"/>
            <a:ext cx="9509760" cy="411480"/>
          </a:xfrm>
          <a:prstGeom prst="rect">
            <a:avLst/>
          </a:prstGeom>
          <a:noFill/>
          <a:ln/>
        </p:spPr>
        <p:txBody>
          <a:bodyPr wrap="square" lIns="0" tIns="0" rIns="0" bIns="0" rtlCol="0" anchor="ctr"/>
          <a:lstStyle/>
          <a:p>
            <a:pPr indent="0" marL="0">
              <a:buNone/>
            </a:pPr>
            <a:r>
              <a:rPr lang="en-US" sz="1600" b="1" dirty="0">
                <a:solidFill>
                  <a:schemeClr val="tx1"/>
                </a:solidFill>
              </a:rPr>
              <a:t>Who does what</a:t>
            </a:r>
            <a:endParaRPr lang="en-US" sz="1600" dirty="0"/>
          </a:p>
        </p:txBody>
      </p:sp>
      <p:sp>
        <p:nvSpPr>
          <p:cNvPr id="22" name="Text 19"/>
          <p:cNvSpPr txBox="1"/>
          <p:nvPr/>
        </p:nvSpPr>
        <p:spPr>
          <a:xfrm>
            <a:off x="1828800" y="4206240"/>
            <a:ext cx="9509760" cy="155448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Shrey Bishnoi (coordinator): </a:t>
            </a:r>
            <a:pPr indent="0" marL="0">
              <a:spcAft>
                <a:spcPts val="300"/>
              </a:spcAft>
              <a:buNone/>
            </a:pPr>
            <a:r>
              <a:rPr lang="en-US" sz="1500" dirty="0">
                <a:solidFill>
                  <a:schemeClr val="tx1"/>
                </a:solidFill>
              </a:rPr>
              <a:t>harness, model runs, two-agent extension</a:t>
            </a:r>
            <a:endParaRPr lang="en-US" sz="1500" dirty="0"/>
          </a:p>
          <a:p>
            <a:pPr indent="0" marL="0">
              <a:spcAft>
                <a:spcPts val="300"/>
              </a:spcAft>
              <a:buNone/>
            </a:pPr>
            <a:r>
              <a:rPr lang="en-US" sz="1500" b="1" dirty="0">
                <a:solidFill>
                  <a:schemeClr val="tx1"/>
                </a:solidFill>
              </a:rPr>
              <a:t>Arsha Jindal: </a:t>
            </a:r>
            <a:pPr indent="0" marL="0">
              <a:spcAft>
                <a:spcPts val="300"/>
              </a:spcAft>
              <a:buNone/>
            </a:pPr>
            <a:r>
              <a:rPr lang="en-US" sz="1500" dirty="0">
                <a:solidFill>
                  <a:schemeClr val="tx1"/>
                </a:solidFill>
              </a:rPr>
              <a:t>datasets, hint construction, labeling guide</a:t>
            </a:r>
            <a:endParaRPr lang="en-US" sz="1500" dirty="0"/>
          </a:p>
          <a:p>
            <a:pPr indent="0" marL="0">
              <a:spcAft>
                <a:spcPts val="300"/>
              </a:spcAft>
              <a:buNone/>
            </a:pPr>
            <a:r>
              <a:rPr lang="en-US" sz="1500" b="1" dirty="0">
                <a:solidFill>
                  <a:schemeClr val="tx1"/>
                </a:solidFill>
              </a:rPr>
              <a:t>Ritik Agarwal: </a:t>
            </a:r>
            <a:pPr indent="0" marL="0">
              <a:spcAft>
                <a:spcPts val="300"/>
              </a:spcAft>
              <a:buNone/>
            </a:pPr>
            <a:r>
              <a:rPr lang="en-US" sz="1500" dirty="0">
                <a:solidFill>
                  <a:schemeClr val="tx1"/>
                </a:solidFill>
              </a:rPr>
              <a:t>statistics, figures, rater agreement</a:t>
            </a:r>
            <a:endParaRPr lang="en-US" sz="1500" dirty="0"/>
          </a:p>
          <a:p>
            <a:pPr indent="0" marL="0">
              <a:spcAft>
                <a:spcPts val="300"/>
              </a:spcAft>
              <a:buNone/>
            </a:pPr>
            <a:r>
              <a:rPr lang="en-US" sz="1500" b="1" dirty="0">
                <a:solidFill>
                  <a:schemeClr val="tx1"/>
                </a:solidFill>
              </a:rPr>
              <a:t>All three: </a:t>
            </a:r>
            <a:pPr indent="0" marL="0">
              <a:spcAft>
                <a:spcPts val="300"/>
              </a:spcAft>
              <a:buNone/>
            </a:pPr>
            <a:r>
              <a:rPr lang="en-US" sz="1500" dirty="0">
                <a:solidFill>
                  <a:schemeClr val="tx1"/>
                </a:solidFill>
              </a:rPr>
              <a:t>hand-labeling, presentations, report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766560" cy="1920240"/>
          </a:xfrm>
          <a:prstGeom prst="rect">
            <a:avLst/>
          </a:prstGeom>
          <a:noFill/>
          <a:ln/>
        </p:spPr>
        <p:txBody>
          <a:bodyPr wrap="square" lIns="0" tIns="0" rIns="0" bIns="0" rtlCol="0" anchor="b"/>
          <a:lstStyle/>
          <a:p>
            <a:pPr algn="l" indent="0" marL="0">
              <a:buNone/>
            </a:pPr>
            <a:r>
              <a:rPr lang="en-US" sz="3200" b="1" dirty="0">
                <a:solidFill>
                  <a:schemeClr val="bg1"/>
                </a:solidFill>
              </a:rPr>
              <a:t>Models mostly ignore the hint, but thinking models often see it and never say so.</a:t>
            </a:r>
            <a:endParaRPr lang="en-US" sz="4000" dirty="0"/>
          </a:p>
        </p:txBody>
      </p:sp>
      <p:sp>
        <p:nvSpPr>
          <p:cNvPr id="3" name="Text 0"/>
          <p:cNvSpPr/>
          <p:nvPr>
            <p:ph idx="101" type="body" hasCustomPrompt="1"/>
          </p:nvPr>
        </p:nvSpPr>
        <p:spPr>
          <a:xfrm>
            <a:off x="731520" y="3520440"/>
            <a:ext cx="6583680" cy="822960"/>
          </a:xfrm>
          <a:prstGeom prst="rect">
            <a:avLst/>
          </a:prstGeom>
          <a:noFill/>
          <a:ln/>
        </p:spPr>
        <p:txBody>
          <a:bodyPr wrap="square" lIns="0" tIns="0" rIns="0" bIns="0" rtlCol="0" anchor="t"/>
          <a:lstStyle/>
          <a:p>
            <a:pPr indent="0" marL="0">
              <a:buNone/>
            </a:pPr>
            <a:r>
              <a:rPr lang="en-US" sz="1900" dirty="0">
                <a:solidFill>
                  <a:schemeClr val="bg2"/>
                </a:solidFill>
              </a:rPr>
              <a:t>Next: does a second model catch that influence, or pass it along?</a:t>
            </a:r>
            <a:endParaRPr lang="en-US" sz="1900" dirty="0"/>
          </a:p>
        </p:txBody>
      </p:sp>
      <p:sp>
        <p:nvSpPr>
          <p:cNvPr id="4" name="Text 0"/>
          <p:cNvSpPr/>
          <p:nvPr>
            <p:ph idx="102" type="body" hasCustomPrompt="1"/>
          </p:nvPr>
        </p:nvSpPr>
        <p:spPr>
          <a:xfrm>
            <a:off x="731520" y="4892040"/>
            <a:ext cx="6766560" cy="1188720"/>
          </a:xfrm>
          <a:prstGeom prst="rect">
            <a:avLst/>
          </a:prstGeom>
          <a:noFill/>
          <a:ln/>
        </p:spPr>
        <p:txBody>
          <a:bodyPr wrap="square" lIns="0" tIns="0" rIns="0" bIns="0" rtlCol="0" anchor="t"/>
          <a:lstStyle/>
          <a:p>
            <a:pPr indent="0" marL="0">
              <a:buNone/>
            </a:pPr>
            <a:r>
              <a:rPr lang="en-US" sz="2800" b="1" dirty="0">
                <a:solidFill>
                  <a:schemeClr val="accent2"/>
                </a:solidFill>
              </a:rPr>
              <a:t>Questions?</a:t>
            </a:r>
            <a:endParaRPr lang="en-US" sz="1500" dirty="0"/>
          </a:p>
        </p:txBody>
      </p:sp>
      <p:sp>
        <p:nvSpPr>
          <p:cNvPr id="5" name="close-private"/>
          <p:cNvSpPr/>
          <p:nvPr/>
        </p:nvSpPr>
        <p:spPr>
          <a:xfrm>
            <a:off x="8001000" y="1554480"/>
            <a:ext cx="2468880" cy="2468880"/>
          </a:xfrm>
          <a:prstGeom prst="ellipse">
            <a:avLst/>
          </a:prstGeom>
          <a:solidFill>
            <a:schemeClr val="accent1">
              <a:alpha val="30000"/>
            </a:schemeClr>
          </a:solidFill>
          <a:ln/>
        </p:spPr>
      </p:sp>
      <p:sp>
        <p:nvSpPr>
          <p:cNvPr id="6" name="close-visible"/>
          <p:cNvSpPr/>
          <p:nvPr/>
        </p:nvSpPr>
        <p:spPr>
          <a:xfrm>
            <a:off x="9281160" y="2697480"/>
            <a:ext cx="2468880" cy="2468880"/>
          </a:xfrm>
          <a:prstGeom prst="ellipse">
            <a:avLst/>
          </a:prstGeom>
          <a:solidFill>
            <a:schemeClr val="accent2">
              <a:alpha val="35000"/>
            </a:schemeClr>
          </a:solidFill>
          <a:ln/>
        </p:spPr>
      </p:sp>
      <p:pic>
        <p:nvPicPr>
          <p:cNvPr id="7" name="close-lock" descr="preencoded.png">    </p:cNvPr>
          <p:cNvPicPr>
            <a:picLocks noChangeAspect="1"/>
          </p:cNvPicPr>
          <p:nvPr/>
        </p:nvPicPr>
        <p:blipFill>
          <a:blip r:embed="rId1"/>
          <a:stretch>
            <a:fillRect/>
          </a:stretch>
        </p:blipFill>
        <p:spPr>
          <a:xfrm>
            <a:off x="8732520" y="2240280"/>
            <a:ext cx="822960" cy="822960"/>
          </a:xfrm>
          <a:prstGeom prst="rect">
            <a:avLst/>
          </a:prstGeom>
        </p:spPr>
      </p:pic>
      <p:pic>
        <p:nvPicPr>
          <p:cNvPr id="8" name="close-eye" descr="preencoded.png">    </p:cNvPr>
          <p:cNvPicPr>
            <a:picLocks noChangeAspect="1"/>
          </p:cNvPicPr>
          <p:nvPr/>
        </p:nvPicPr>
        <p:blipFill>
          <a:blip r:embed="rId2"/>
          <a:stretch>
            <a:fillRect/>
          </a:stretch>
        </p:blipFill>
        <p:spPr>
          <a:xfrm>
            <a:off x="10287000" y="3703320"/>
            <a:ext cx="822960" cy="8229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Backup: what differs within each pair</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554480"/>
                <a:gridCol w="2834640"/>
                <a:gridCol w="2560320"/>
                <a:gridCol w="4114800"/>
              </a:tblGrid>
              <a:tr h="0">
                <a:tc>
                  <a:txBody>
                    <a:bodyPr/>
                    <a:lstStyle/>
                    <a:p>
                      <a:pPr indent="0" marL="0">
                        <a:buNone/>
                      </a:pPr>
                      <a:r>
                        <a:rPr lang="en-US" sz="1400" b="1" dirty="0">
                          <a:solidFill>
                            <a:schemeClr val="bg1"/>
                          </a:solidFill>
                        </a:rPr>
                        <a:t>Pair</a:t>
                      </a:r>
                      <a:endParaRPr lang="en-US" sz="1400" dirty="0"/>
                    </a:p>
                  </a:txBody>
                  <a:tcPr marL="73152" marR="73152" marT="73152" marB="73152">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Voyager model IDs</a:t>
                      </a:r>
                      <a:endParaRPr lang="en-US" sz="1400" dirty="0"/>
                    </a:p>
                  </a:txBody>
                  <a:tcPr marL="73152" marR="73152" marT="73152" marB="73152">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Shared</a:t>
                      </a:r>
                      <a:endParaRPr lang="en-US" sz="1400" dirty="0"/>
                    </a:p>
                  </a:txBody>
                  <a:tcPr marL="73152" marR="73152" marT="73152" marB="73152">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Different</a:t>
                      </a:r>
                      <a:endParaRPr lang="en-US" sz="1400" dirty="0"/>
                    </a:p>
                  </a:txBody>
                  <a:tcPr marL="73152" marR="73152" marT="73152" marB="73152">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r>
              <a:tr h="0">
                <a:tc>
                  <a:txBody>
                    <a:bodyPr/>
                    <a:lstStyle/>
                    <a:p>
                      <a:pPr indent="0" marL="0">
                        <a:buNone/>
                      </a:pPr>
                      <a:r>
                        <a:rPr lang="en-US" sz="1350" dirty="0">
                          <a:solidFill>
                            <a:schemeClr val="tx1"/>
                          </a:solidFill>
                        </a:rPr>
                        <a:t>Olmo 3 7B</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50" dirty="0">
                          <a:solidFill>
                            <a:schemeClr val="tx1"/>
                          </a:solidFill>
                        </a:rPr>
                        <a:t>olmo3-7b-instruct</a:t>
                      </a:r>
                      <a:endParaRPr lang="en-US" sz="1350" dirty="0"/>
                    </a:p>
                    <a:p>
                      <a:pPr indent="0" marL="0">
                        <a:buNone/>
                      </a:pPr>
                      <a:r>
                        <a:rPr lang="en-US" sz="1350" dirty="0">
                          <a:solidFill>
                            <a:schemeClr val="tx1"/>
                          </a:solidFill>
                        </a:rPr>
                        <a:t>olmo3-7b-think</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50" dirty="0">
                          <a:solidFill>
                            <a:schemeClr val="tx1"/>
                          </a:solidFill>
                        </a:rPr>
                        <a:t>Same base model; SFT → DPO → RL</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50" dirty="0">
                          <a:solidFill>
                            <a:schemeClr val="tx1"/>
                          </a:solidFill>
                        </a:rPr>
                        <a:t>Think: reasoning traces from QwQ-32B and DeepSeek-R1. Instruct: chat, tool-use and instruction data with traces removed</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0">
                <a:tc>
                  <a:txBody>
                    <a:bodyPr/>
                    <a:lstStyle/>
                    <a:p>
                      <a:pPr indent="0" marL="0">
                        <a:buNone/>
                      </a:pPr>
                      <a:r>
                        <a:rPr lang="en-US" sz="1350" dirty="0">
                          <a:solidFill>
                            <a:schemeClr val="tx1"/>
                          </a:solidFill>
                        </a:rPr>
                        <a:t>Olmo 3 32B</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50" dirty="0">
                          <a:solidFill>
                            <a:schemeClr val="tx1"/>
                          </a:solidFill>
                        </a:rPr>
                        <a:t>olmo3-32b-instruct</a:t>
                      </a:r>
                      <a:endParaRPr lang="en-US" sz="1350" dirty="0"/>
                    </a:p>
                    <a:p>
                      <a:pPr indent="0" marL="0">
                        <a:buNone/>
                      </a:pPr>
                      <a:r>
                        <a:rPr lang="en-US" sz="1350" dirty="0">
                          <a:solidFill>
                            <a:schemeClr val="tx1"/>
                          </a:solidFill>
                        </a:rPr>
                        <a:t>olmo3-32b-think</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50" dirty="0">
                          <a:solidFill>
                            <a:schemeClr val="tx1"/>
                          </a:solidFill>
                        </a:rPr>
                        <a:t>Same as above</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50" dirty="0">
                          <a:solidFill>
                            <a:schemeClr val="tx1"/>
                          </a:solidFill>
                        </a:rPr>
                        <a:t>Same recipes. Olmo 3.1 32B variants also exist: to confirm on the Voyager portal</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0">
                <a:tc>
                  <a:txBody>
                    <a:bodyPr/>
                    <a:lstStyle/>
                    <a:p>
                      <a:pPr indent="0" marL="0">
                        <a:buNone/>
                      </a:pPr>
                      <a:r>
                        <a:rPr lang="en-US" sz="1350" dirty="0">
                          <a:solidFill>
                            <a:schemeClr val="tx1"/>
                          </a:solidFill>
                        </a:rPr>
                        <a:t>Qwen3 30B-A3B</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50" dirty="0">
                          <a:solidFill>
                            <a:schemeClr val="tx1"/>
                          </a:solidFill>
                        </a:rPr>
                        <a:t>qwen3-30b-a3b-instruct-2507</a:t>
                      </a:r>
                      <a:endParaRPr lang="en-US" sz="1350" dirty="0"/>
                    </a:p>
                    <a:p>
                      <a:pPr indent="0" marL="0">
                        <a:buNone/>
                      </a:pPr>
                      <a:r>
                        <a:rPr lang="en-US" sz="1350" dirty="0">
                          <a:solidFill>
                            <a:schemeClr val="tx1"/>
                          </a:solidFill>
                        </a:rPr>
                        <a:t>qwen3-30b-a3b-thinking-2507</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50" dirty="0">
                          <a:solidFill>
                            <a:schemeClr val="tx1"/>
                          </a:solidFill>
                        </a:rPr>
                        <a:t>Identical architecture (30.5B, 3.3B active)</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50" dirty="0">
                          <a:solidFill>
                            <a:schemeClr val="tx1"/>
                          </a:solidFill>
                        </a:rPr>
                        <a:t>Separate post-training lines; thinking-only vs non-thinking-only. Recommended sampling differs (0.6 vs 0.7); we use 0.6 for all</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4" name="Text 1"/>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100" dirty="0">
                <a:solidFill>
                  <a:schemeClr val="accent5"/>
                </a:solidFill>
              </a:rPr>
              <a:t>Sources: AI2 Olmo 3 release and model cards; Qwen3-2507 model cards.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b="1" dirty="0">
                <a:solidFill>
                  <a:schemeClr val="tx1"/>
                </a:solidFill>
              </a:rPr>
              <a:t>Backup: design and budget</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560320"/>
                <a:gridCol w="8503920"/>
              </a:tblGrid>
              <a:tr h="0">
                <a:tc>
                  <a:txBody>
                    <a:bodyPr/>
                    <a:lstStyle/>
                    <a:p>
                      <a:pPr indent="0" marL="0">
                        <a:buNone/>
                      </a:pPr>
                      <a:r>
                        <a:rPr lang="en-US" sz="1400" b="1" dirty="0">
                          <a:solidFill>
                            <a:schemeClr val="bg1"/>
                          </a:solidFill>
                        </a:rPr>
                        <a:t>Setting</a:t>
                      </a:r>
                      <a:endParaRPr lang="en-US" sz="1400" dirty="0"/>
                    </a:p>
                  </a:txBody>
                  <a:tcPr marL="73152" marR="73152" marT="73152" marB="73152">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This round</a:t>
                      </a:r>
                      <a:endParaRPr lang="en-US" sz="1400" dirty="0"/>
                    </a:p>
                  </a:txBody>
                  <a:tcPr marL="73152" marR="73152" marT="73152" marB="73152">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chemeClr val="tx2"/>
                    </a:solidFill>
                  </a:tcPr>
                </a:tc>
              </a:tr>
              <a:tr h="0">
                <a:tc>
                  <a:txBody>
                    <a:bodyPr/>
                    <a:lstStyle/>
                    <a:p>
                      <a:pPr indent="0" marL="0">
                        <a:buNone/>
                      </a:pPr>
                      <a:r>
                        <a:rPr lang="en-US" sz="1350" dirty="0">
                          <a:solidFill>
                            <a:schemeClr val="tx1"/>
                          </a:solidFill>
                        </a:rPr>
                        <a:t>Items</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50" dirty="0">
                          <a:solidFill>
                            <a:schemeClr val="tx1"/>
                          </a:solidFill>
                        </a:rPr>
                        <a:t>24 shuffled-object puzzles (7 people, 15 swaps); correct answers balanced across A–G</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0">
                <a:tc>
                  <a:txBody>
                    <a:bodyPr/>
                    <a:lstStyle/>
                    <a:p>
                      <a:pPr indent="0" marL="0">
                        <a:buNone/>
                      </a:pPr>
                      <a:r>
                        <a:rPr lang="en-US" sz="1350" dirty="0">
                          <a:solidFill>
                            <a:schemeClr val="tx1"/>
                          </a:solidFill>
                        </a:rPr>
                        <a:t>Conditions per item</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50" dirty="0">
                          <a:solidFill>
                            <a:schemeClr val="tx1"/>
                          </a:solidFill>
                        </a:rPr>
                        <a:t>No hint × 3 seeds · wrong hint × 2 (positions balanced) · correct hint × 1</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0">
                <a:tc>
                  <a:txBody>
                    <a:bodyPr/>
                    <a:lstStyle/>
                    <a:p>
                      <a:pPr indent="0" marL="0">
                        <a:buNone/>
                      </a:pPr>
                      <a:r>
                        <a:rPr lang="en-US" sz="1350" dirty="0">
                          <a:solidFill>
                            <a:schemeClr val="tx1"/>
                          </a:solidFill>
                        </a:rPr>
                        <a:t>Sampling</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50" dirty="0">
                          <a:solidFill>
                            <a:schemeClr val="tx1"/>
                          </a:solidFill>
                        </a:rPr>
                        <a:t>Temperature 0.6, fixed seeds (verified reproducible), 16k max tokens, streamed</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0">
                <a:tc>
                  <a:txBody>
                    <a:bodyPr/>
                    <a:lstStyle/>
                    <a:p>
                      <a:pPr indent="0" marL="0">
                        <a:buNone/>
                      </a:pPr>
                      <a:r>
                        <a:rPr lang="en-US" sz="1350" dirty="0">
                          <a:solidFill>
                            <a:schemeClr val="tx1"/>
                          </a:solidFill>
                        </a:rPr>
                        <a:t>Extra checks</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50" dirty="0">
                          <a:solidFill>
                            <a:schemeClr val="tx1"/>
                          </a:solidFill>
                        </a:rPr>
                        <a:t>“Think briefly” on 2 thinking models · “answer only” on 4 models</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0">
                <a:tc>
                  <a:txBody>
                    <a:bodyPr/>
                    <a:lstStyle/>
                    <a:p>
                      <a:pPr indent="0" marL="0">
                        <a:buNone/>
                      </a:pPr>
                      <a:r>
                        <a:rPr lang="en-US" sz="1350" dirty="0">
                          <a:solidFill>
                            <a:schemeClr val="tx1"/>
                          </a:solidFill>
                        </a:rPr>
                        <a:t>Median output tokens</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50" dirty="0">
                          <a:solidFill>
                            <a:schemeClr val="tx1"/>
                          </a:solidFill>
                        </a:rPr>
                        <a:t>Olmo 3 7B Instruct 1,406 · Olmo 3 7B Think 7,272 · Olmo 3 32B Instruct 1,467 · Olmo 3 32B Think 4,610 · Qwen3 30B Instruct 833 · Qwen3 30B Thinking 3,951</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0">
                <a:tc>
                  <a:txBody>
                    <a:bodyPr/>
                    <a:lstStyle/>
                    <a:p>
                      <a:pPr indent="0" marL="0">
                        <a:buNone/>
                      </a:pPr>
                      <a:r>
                        <a:rPr lang="en-US" sz="1350" dirty="0">
                          <a:solidFill>
                            <a:schemeClr val="tx1"/>
                          </a:solidFill>
                        </a:rPr>
                        <a:t>Calls</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50" dirty="0">
                          <a:solidFill>
                            <a:schemeClr val="tx1"/>
                          </a:solidFill>
                        </a:rPr>
                        <a:t>105 this round; 0 errors</a:t>
                      </a:r>
                      <a:endParaRPr lang="en-US" sz="1350" dirty="0"/>
                    </a:p>
                  </a:txBody>
                  <a:tcPr marL="73152" marR="73152" marT="73152" marB="73152" anchor="t">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Two Channels">
      <a:dk1>
        <a:srgbClr val="1A1D24"/>
      </a:dk1>
      <a:lt1>
        <a:srgbClr val="FFFFFF"/>
      </a:lt1>
      <a:dk2>
        <a:srgbClr val="232A36"/>
      </a:dk2>
      <a:lt2>
        <a:srgbClr val="F1F4F8"/>
      </a:lt2>
      <a:accent1>
        <a:srgbClr val="2A78D6"/>
      </a:accent1>
      <a:accent2>
        <a:srgbClr val="EB6834"/>
      </a:accent2>
      <a:accent3>
        <a:srgbClr val="1BAF7A"/>
      </a:accent3>
      <a:accent4>
        <a:srgbClr val="EDA100"/>
      </a:accent4>
      <a:accent5>
        <a:srgbClr val="6B7280"/>
      </a:accent5>
      <a:accent6>
        <a:srgbClr val="4A3AA7"/>
      </a:accent6>
      <a:hlink>
        <a:srgbClr val="2A78D6"/>
      </a:hlink>
      <a:folHlink>
        <a:srgbClr val="4A3AA7"/>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Thinking Modes Make Chain-of-Thought More Honest? - Progress</dc:title>
  <dc:subject>PptxGenJS Presentation</dc:subject>
  <dc:creator>Group 10: Shrey Bishnoi, Arsha Jindal, Ritik Agarwal</dc:creator>
  <cp:lastModifiedBy>Group 10: Shrey Bishnoi, Arsha Jindal, Ritik Agarwal</cp:lastModifiedBy>
  <cp:revision>1</cp:revision>
  <dcterms:created xsi:type="dcterms:W3CDTF">2026-10-02T19:54:43Z</dcterms:created>
  <dcterms:modified xsi:type="dcterms:W3CDTF">2026-10-02T19:54:43Z</dcterms:modified>
</cp:coreProperties>
</file>